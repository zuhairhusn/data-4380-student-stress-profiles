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4114800"/>
          </a:xfrm>
          <a:prstGeom prst="rect">
            <a:avLst/>
          </a:prstGeom>
          <a:noFill/>
        </p:spPr>
        <p:txBody>
          <a:bodyPr wrap="square">
            <a:spAutoFit/>
          </a:bodyPr>
          <a:lstStyle/>
          <a:p>
            <a:pPr>
              <a:spcAft>
                <a:spcPts val="1600"/>
              </a:spcAft>
              <a:defRPr sz="1300" b="1">
                <a:solidFill>
                  <a:srgbClr val="D4AF37"/>
                </a:solidFill>
              </a:defRPr>
            </a:pPr>
            <a:r>
              <a:t>DATA 4380 · DATA PROBLEMS</a:t>
            </a:r>
          </a:p>
          <a:p>
            <a:pPr>
              <a:spcAft>
                <a:spcPts val="1800"/>
              </a:spcAft>
              <a:defRPr sz="3600" b="1">
                <a:solidFill>
                  <a:srgbClr val="F8F9FA"/>
                </a:solidFill>
              </a:defRPr>
            </a:pPr>
            <a:r>
              <a:t>Student Stress Profiles:</a:t>
            </a:r>
            <a:br/>
            <a:r>
              <a:t>An Unsupervised Learning Study</a:t>
            </a:r>
          </a:p>
          <a:p>
            <a:pPr>
              <a:spcAft>
                <a:spcPts val="4500"/>
              </a:spcAft>
              <a:defRPr sz="1700">
                <a:solidFill>
                  <a:srgbClr val="F8A5C2"/>
                </a:solidFill>
              </a:defRPr>
            </a:pPr>
            <a:r>
              <a:t>Identifying Latent Distress Archetypes, Environmental Buffers, and Gender Disparities</a:t>
            </a:r>
          </a:p>
          <a:p>
            <a:pPr>
              <a:defRPr sz="1300">
                <a:solidFill>
                  <a:srgbClr val="BDC3C7"/>
                </a:solidFill>
              </a:defRPr>
            </a:pPr>
            <a:r>
              <a:t>Zuhair Hussain (Solo Presentation · Assisted by Google Gemini) · Dr. Masoud Rostami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Background and Motivation</a:t>
            </a:r>
          </a:p>
        </p:txBody>
      </p:sp>
      <p:sp>
        <p:nvSpPr>
          <p:cNvPr id="4" name="Rounded Rectangle 3"/>
          <p:cNvSpPr/>
          <p:nvPr/>
        </p:nvSpPr>
        <p:spPr>
          <a:xfrm>
            <a:off x="731520" y="1645920"/>
            <a:ext cx="33832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2834640" cy="3840480"/>
          </a:xfrm>
          <a:prstGeom prst="rect">
            <a:avLst/>
          </a:prstGeom>
          <a:noFill/>
        </p:spPr>
        <p:txBody>
          <a:bodyPr wrap="square">
            <a:spAutoFit/>
          </a:bodyPr>
          <a:lstStyle/>
          <a:p>
            <a:pPr>
              <a:spcAft>
                <a:spcPts val="1200"/>
              </a:spcAft>
              <a:defRPr sz="1100" b="1">
                <a:solidFill>
                  <a:srgbClr val="B8860B"/>
                </a:solidFill>
              </a:defRPr>
            </a:pPr>
            <a:r>
              <a:t>THE CONTEXT</a:t>
            </a:r>
          </a:p>
          <a:p>
            <a:pPr>
              <a:spcAft>
                <a:spcPts val="1400"/>
              </a:spcAft>
              <a:defRPr sz="1800" b="1">
                <a:solidFill>
                  <a:srgbClr val="2C3E50"/>
                </a:solidFill>
              </a:defRPr>
            </a:pPr>
            <a:r>
              <a:t>Rising Student Distress</a:t>
            </a:r>
          </a:p>
          <a:p>
            <a:pPr>
              <a:defRPr sz="1300">
                <a:solidFill>
                  <a:srgbClr val="7F8C8D"/>
                </a:solidFill>
              </a:defRPr>
            </a:pPr>
            <a:r>
              <a:t>Post-pandemic mental health surveys report unprecedented anxiety and burnout among university students, particularly in demanding computer science and data science curricula with steep learning curves.</a:t>
            </a:r>
          </a:p>
        </p:txBody>
      </p:sp>
      <p:sp>
        <p:nvSpPr>
          <p:cNvPr id="6" name="Rounded Rectangle 5"/>
          <p:cNvSpPr/>
          <p:nvPr/>
        </p:nvSpPr>
        <p:spPr>
          <a:xfrm>
            <a:off x="4389120" y="1645920"/>
            <a:ext cx="33832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2011680"/>
            <a:ext cx="2834640" cy="3840480"/>
          </a:xfrm>
          <a:prstGeom prst="rect">
            <a:avLst/>
          </a:prstGeom>
          <a:noFill/>
        </p:spPr>
        <p:txBody>
          <a:bodyPr wrap="square">
            <a:spAutoFit/>
          </a:bodyPr>
          <a:lstStyle/>
          <a:p>
            <a:pPr>
              <a:spcAft>
                <a:spcPts val="1200"/>
              </a:spcAft>
              <a:defRPr sz="1100" b="1">
                <a:solidFill>
                  <a:srgbClr val="E84393"/>
                </a:solidFill>
              </a:defRPr>
            </a:pPr>
            <a:r>
              <a:t>THE DATA</a:t>
            </a:r>
          </a:p>
          <a:p>
            <a:pPr>
              <a:spcAft>
                <a:spcPts val="1400"/>
              </a:spcAft>
              <a:defRPr sz="1800" b="1">
                <a:solidFill>
                  <a:srgbClr val="2C3E50"/>
                </a:solidFill>
              </a:defRPr>
            </a:pPr>
            <a:r>
              <a:t>Multidimensional Survey (N=87)</a:t>
            </a:r>
          </a:p>
          <a:p>
            <a:pPr>
              <a:defRPr sz="1300">
                <a:solidFill>
                  <a:srgbClr val="7F8C8D"/>
                </a:solidFill>
              </a:defRPr>
            </a:pPr>
            <a:r>
              <a:t>87 self-reported student records across major universities in Pakistan capturing lifestyle habits, academic workload, clinical depression/anxiety scores, and multi-select coping mechanisms.</a:t>
            </a:r>
          </a:p>
        </p:txBody>
      </p:sp>
      <p:sp>
        <p:nvSpPr>
          <p:cNvPr id="8" name="Rounded Rectangle 7"/>
          <p:cNvSpPr/>
          <p:nvPr/>
        </p:nvSpPr>
        <p:spPr>
          <a:xfrm>
            <a:off x="8046720" y="1645920"/>
            <a:ext cx="33832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2011680"/>
            <a:ext cx="2834640" cy="3840480"/>
          </a:xfrm>
          <a:prstGeom prst="rect">
            <a:avLst/>
          </a:prstGeom>
          <a:noFill/>
        </p:spPr>
        <p:txBody>
          <a:bodyPr wrap="square">
            <a:spAutoFit/>
          </a:bodyPr>
          <a:lstStyle/>
          <a:p>
            <a:pPr>
              <a:spcAft>
                <a:spcPts val="1200"/>
              </a:spcAft>
              <a:defRPr sz="1100" b="1">
                <a:solidFill>
                  <a:srgbClr val="B8860B"/>
                </a:solidFill>
              </a:defRPr>
            </a:pPr>
            <a:r>
              <a:t>WHO BENEFITS</a:t>
            </a:r>
          </a:p>
          <a:p>
            <a:pPr>
              <a:spcAft>
                <a:spcPts val="1400"/>
              </a:spcAft>
              <a:defRPr sz="1800" b="1">
                <a:solidFill>
                  <a:srgbClr val="2C3E50"/>
                </a:solidFill>
              </a:defRPr>
            </a:pPr>
            <a:r>
              <a:t>Targeted Institutional Care</a:t>
            </a:r>
          </a:p>
          <a:p>
            <a:pPr>
              <a:defRPr sz="1300">
                <a:solidFill>
                  <a:srgbClr val="7F8C8D"/>
                </a:solidFill>
              </a:defRPr>
            </a:pPr>
            <a:r>
              <a:t>University counselors, academic advisors, and curriculum coordinators who need empirical data to design structured peer buffers rather than generic wellness seminars.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Previous Work &amp; Literature Context</a:t>
            </a:r>
          </a:p>
        </p:txBody>
      </p:sp>
      <p:sp>
        <p:nvSpPr>
          <p:cNvPr id="4" name="Rounded Rectangle 3"/>
          <p:cNvSpPr/>
          <p:nvPr/>
        </p:nvSpPr>
        <p:spPr>
          <a:xfrm>
            <a:off x="731520" y="1645920"/>
            <a:ext cx="33832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11680"/>
            <a:ext cx="2834640" cy="3840480"/>
          </a:xfrm>
          <a:prstGeom prst="rect">
            <a:avLst/>
          </a:prstGeom>
          <a:noFill/>
        </p:spPr>
        <p:txBody>
          <a:bodyPr wrap="square">
            <a:spAutoFit/>
          </a:bodyPr>
          <a:lstStyle/>
          <a:p>
            <a:pPr>
              <a:spcAft>
                <a:spcPts val="1000"/>
              </a:spcAft>
              <a:defRPr sz="1100" b="1">
                <a:solidFill>
                  <a:srgbClr val="B8860B"/>
                </a:solidFill>
              </a:defRPr>
            </a:pPr>
            <a:r>
              <a:t>KHAN ET AL. (2013)</a:t>
            </a:r>
          </a:p>
          <a:p>
            <a:pPr>
              <a:spcAft>
                <a:spcPts val="1200"/>
              </a:spcAft>
              <a:defRPr sz="1600" b="1">
                <a:solidFill>
                  <a:srgbClr val="2C3E50"/>
                </a:solidFill>
              </a:defRPr>
            </a:pPr>
            <a:r>
              <a:t>Undergraduate Stress in Pakistan</a:t>
            </a:r>
          </a:p>
          <a:p>
            <a:pPr>
              <a:defRPr sz="1150">
                <a:solidFill>
                  <a:srgbClr val="7F8C8D"/>
                </a:solidFill>
              </a:defRPr>
            </a:pPr>
            <a:r>
              <a:t>• Sample: 188 undergraduates using questionnaire &amp; chi-square tests.</a:t>
            </a:r>
            <a:br/>
            <a:r>
              <a:t>• Key Finding: 90.4% reported intense stress regarding academic evaluations.</a:t>
            </a:r>
            <a:br/>
            <a:r>
              <a:t>• Limitation: Relied strictly on bivariate tests; unable to uncover multi-factor behavioral archetypes.</a:t>
            </a:r>
          </a:p>
        </p:txBody>
      </p:sp>
      <p:sp>
        <p:nvSpPr>
          <p:cNvPr id="6" name="Rounded Rectangle 5"/>
          <p:cNvSpPr/>
          <p:nvPr/>
        </p:nvSpPr>
        <p:spPr>
          <a:xfrm>
            <a:off x="4389120" y="1645920"/>
            <a:ext cx="33832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2011680"/>
            <a:ext cx="2834640" cy="3840480"/>
          </a:xfrm>
          <a:prstGeom prst="rect">
            <a:avLst/>
          </a:prstGeom>
          <a:noFill/>
        </p:spPr>
        <p:txBody>
          <a:bodyPr wrap="square">
            <a:spAutoFit/>
          </a:bodyPr>
          <a:lstStyle/>
          <a:p>
            <a:pPr>
              <a:spcAft>
                <a:spcPts val="1000"/>
              </a:spcAft>
              <a:defRPr sz="1100" b="1">
                <a:solidFill>
                  <a:srgbClr val="E84393"/>
                </a:solidFill>
              </a:defRPr>
            </a:pPr>
            <a:r>
              <a:t>NASIR (2025)</a:t>
            </a:r>
          </a:p>
          <a:p>
            <a:pPr>
              <a:spcAft>
                <a:spcPts val="1200"/>
              </a:spcAft>
              <a:defRPr sz="1600" b="1">
                <a:solidFill>
                  <a:srgbClr val="2C3E50"/>
                </a:solidFill>
              </a:defRPr>
            </a:pPr>
            <a:r>
              <a:t>Psychological Distress &amp; Buffers</a:t>
            </a:r>
          </a:p>
          <a:p>
            <a:pPr>
              <a:defRPr sz="1150">
                <a:solidFill>
                  <a:srgbClr val="7F8C8D"/>
                </a:solidFill>
              </a:defRPr>
            </a:pPr>
            <a:r>
              <a:t>• Sample: 300 university students using DASS-21 and SEM regression.</a:t>
            </a:r>
            <a:br/>
            <a:r>
              <a:t>• Key Finding: Academic pressure correlated with stress (r=0.49). Coping strategies (beta=-0.33) and peer support (beta=-0.25) acted as significant buffers.</a:t>
            </a:r>
            <a:br/>
            <a:r>
              <a:t>• Limitation: Assumed linear relationships without clustering.</a:t>
            </a:r>
          </a:p>
        </p:txBody>
      </p:sp>
      <p:sp>
        <p:nvSpPr>
          <p:cNvPr id="8" name="Rounded Rectangle 7"/>
          <p:cNvSpPr/>
          <p:nvPr/>
        </p:nvSpPr>
        <p:spPr>
          <a:xfrm>
            <a:off x="8046720" y="1645920"/>
            <a:ext cx="33832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2011680"/>
            <a:ext cx="2834640" cy="3840480"/>
          </a:xfrm>
          <a:prstGeom prst="rect">
            <a:avLst/>
          </a:prstGeom>
          <a:noFill/>
        </p:spPr>
        <p:txBody>
          <a:bodyPr wrap="square">
            <a:spAutoFit/>
          </a:bodyPr>
          <a:lstStyle/>
          <a:p>
            <a:pPr>
              <a:spcAft>
                <a:spcPts val="1000"/>
              </a:spcAft>
              <a:defRPr sz="1100" b="1">
                <a:solidFill>
                  <a:srgbClr val="B8860B"/>
                </a:solidFill>
              </a:defRPr>
            </a:pPr>
            <a:r>
              <a:t>SAEED ET AL. (2020)</a:t>
            </a:r>
          </a:p>
          <a:p>
            <a:pPr>
              <a:spcAft>
                <a:spcPts val="1200"/>
              </a:spcAft>
              <a:defRPr sz="1600" b="1">
                <a:solidFill>
                  <a:srgbClr val="2C3E50"/>
                </a:solidFill>
              </a:defRPr>
            </a:pPr>
            <a:r>
              <a:t>Qualitative Exploratory Analysis</a:t>
            </a:r>
          </a:p>
          <a:p>
            <a:pPr>
              <a:defRPr sz="1150">
                <a:solidFill>
                  <a:srgbClr val="7F8C8D"/>
                </a:solidFill>
              </a:defRPr>
            </a:pPr>
            <a:r>
              <a:t>• Sample: 80 male undergraduates via structured interviews.</a:t>
            </a:r>
            <a:br/>
            <a:r>
              <a:t>• Key Finding: 96% experienced academic distress, citing frequent exams and semester pacing.</a:t>
            </a:r>
            <a:br/>
            <a:r>
              <a:t>• Limitation: Male-only sample; did not examine female distress or unsupervised patterns.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Problem Statement and Objectives</a:t>
            </a:r>
          </a:p>
        </p:txBody>
      </p:sp>
      <p:sp>
        <p:nvSpPr>
          <p:cNvPr id="4" name="Rounded Rectangle 3"/>
          <p:cNvSpPr/>
          <p:nvPr/>
        </p:nvSpPr>
        <p:spPr>
          <a:xfrm>
            <a:off x="731520" y="1645920"/>
            <a:ext cx="4114800" cy="4572000"/>
          </a:xfrm>
          <a:prstGeom prst="roundRect">
            <a:avLst/>
          </a:prstGeom>
          <a:solidFill>
            <a:srgbClr val="242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3566160" cy="4023360"/>
          </a:xfrm>
          <a:prstGeom prst="rect">
            <a:avLst/>
          </a:prstGeom>
          <a:noFill/>
        </p:spPr>
        <p:txBody>
          <a:bodyPr wrap="square">
            <a:spAutoFit/>
          </a:bodyPr>
          <a:lstStyle/>
          <a:p>
            <a:pPr>
              <a:spcAft>
                <a:spcPts val="1200"/>
              </a:spcAft>
              <a:defRPr sz="1100" b="1">
                <a:solidFill>
                  <a:srgbClr val="D4AF37"/>
                </a:solidFill>
              </a:defRPr>
            </a:pPr>
            <a:r>
              <a:t>RESEARCH QUESTION</a:t>
            </a:r>
          </a:p>
          <a:p>
            <a:pPr>
              <a:spcAft>
                <a:spcPts val="2000"/>
              </a:spcAft>
              <a:defRPr sz="1600" b="1">
                <a:solidFill>
                  <a:srgbClr val="F8F9FA"/>
                </a:solidFill>
              </a:defRPr>
            </a:pPr>
            <a:r>
              <a:t>Can unsupervised learning identify distinct student stress profiles, which variables contribute the most to profile identification, and does this change between genders?</a:t>
            </a:r>
          </a:p>
          <a:p>
            <a:pPr>
              <a:defRPr sz="1200">
                <a:solidFill>
                  <a:srgbClr val="F8A5C2"/>
                </a:solidFill>
              </a:defRPr>
            </a:pPr>
            <a:r>
              <a:t>GOAL &amp; SUCCESS CRITERIA</a:t>
            </a:r>
            <a:br/>
            <a:r>
              <a:t>Discover actionable clinical clusters and prove mathematical separability using Silhouette analysis and cross-validation, while explaining the protective mechanisms of peer relationships.</a:t>
            </a:r>
          </a:p>
        </p:txBody>
      </p:sp>
      <p:sp>
        <p:nvSpPr>
          <p:cNvPr id="6" name="Oval 5"/>
          <p:cNvSpPr/>
          <p:nvPr/>
        </p:nvSpPr>
        <p:spPr>
          <a:xfrm>
            <a:off x="5212080" y="1783080"/>
            <a:ext cx="777240" cy="77724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8F9FA"/>
                </a:solidFill>
              </a:defRPr>
            </a:pPr>
            <a:r>
              <a:t>1</a:t>
            </a:r>
          </a:p>
        </p:txBody>
      </p:sp>
      <p:sp>
        <p:nvSpPr>
          <p:cNvPr id="7" name="TextBox 6"/>
          <p:cNvSpPr txBox="1"/>
          <p:nvPr/>
        </p:nvSpPr>
        <p:spPr>
          <a:xfrm>
            <a:off x="6217920" y="1645920"/>
            <a:ext cx="5212080" cy="1371600"/>
          </a:xfrm>
          <a:prstGeom prst="rect">
            <a:avLst/>
          </a:prstGeom>
          <a:noFill/>
        </p:spPr>
        <p:txBody>
          <a:bodyPr wrap="square">
            <a:spAutoFit/>
          </a:bodyPr>
          <a:lstStyle/>
          <a:p>
            <a:pPr>
              <a:spcAft>
                <a:spcPts val="400"/>
              </a:spcAft>
              <a:defRPr sz="1500" b="1">
                <a:solidFill>
                  <a:srgbClr val="2C3E50"/>
                </a:solidFill>
              </a:defRPr>
            </a:pPr>
            <a:r>
              <a:t>Audit &amp; Multi-Label Preprocessing</a:t>
            </a:r>
          </a:p>
          <a:p>
            <a:pPr>
              <a:defRPr sz="1200">
                <a:solidFill>
                  <a:srgbClr val="7F8C8D"/>
                </a:solidFill>
              </a:defRPr>
            </a:pPr>
            <a:r>
              <a:t>Sanitize survey data, resolve trailing whitespace anomalies, and apply MultiLabelBinarizer to multi-select coping activities.</a:t>
            </a:r>
          </a:p>
        </p:txBody>
      </p:sp>
      <p:sp>
        <p:nvSpPr>
          <p:cNvPr id="8" name="Oval 7"/>
          <p:cNvSpPr/>
          <p:nvPr/>
        </p:nvSpPr>
        <p:spPr>
          <a:xfrm>
            <a:off x="5212080" y="3337560"/>
            <a:ext cx="777240" cy="777240"/>
          </a:xfrm>
          <a:prstGeom prst="ellipse">
            <a:avLst/>
          </a:prstGeom>
          <a:solidFill>
            <a:srgbClr val="E843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8F9FA"/>
                </a:solidFill>
              </a:defRPr>
            </a:pPr>
            <a:r>
              <a:t>2</a:t>
            </a:r>
          </a:p>
        </p:txBody>
      </p:sp>
      <p:sp>
        <p:nvSpPr>
          <p:cNvPr id="9" name="TextBox 8"/>
          <p:cNvSpPr txBox="1"/>
          <p:nvPr/>
        </p:nvSpPr>
        <p:spPr>
          <a:xfrm>
            <a:off x="6217920" y="3200400"/>
            <a:ext cx="5212080" cy="1371600"/>
          </a:xfrm>
          <a:prstGeom prst="rect">
            <a:avLst/>
          </a:prstGeom>
          <a:noFill/>
        </p:spPr>
        <p:txBody>
          <a:bodyPr wrap="square">
            <a:spAutoFit/>
          </a:bodyPr>
          <a:lstStyle/>
          <a:p>
            <a:pPr>
              <a:spcAft>
                <a:spcPts val="400"/>
              </a:spcAft>
              <a:defRPr sz="1500" b="1">
                <a:solidFill>
                  <a:srgbClr val="2C3E50"/>
                </a:solidFill>
              </a:defRPr>
            </a:pPr>
            <a:r>
              <a:t>Unsupervised Algorithm Benchmarking</a:t>
            </a:r>
          </a:p>
          <a:p>
            <a:pPr>
              <a:defRPr sz="1200">
                <a:solidFill>
                  <a:srgbClr val="7F8C8D"/>
                </a:solidFill>
              </a:defRPr>
            </a:pPr>
            <a:r>
              <a:t>Compare K-Means, Agglomerative Hierarchical, and Gaussian Mixture Models across k in [2, 5] using Silhouette optimization.</a:t>
            </a:r>
          </a:p>
        </p:txBody>
      </p:sp>
      <p:sp>
        <p:nvSpPr>
          <p:cNvPr id="10" name="Oval 9"/>
          <p:cNvSpPr/>
          <p:nvPr/>
        </p:nvSpPr>
        <p:spPr>
          <a:xfrm>
            <a:off x="5212080" y="4892040"/>
            <a:ext cx="777240" cy="777240"/>
          </a:xfrm>
          <a:prstGeom prst="ellipse">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8F9FA"/>
                </a:solidFill>
              </a:defRPr>
            </a:pPr>
            <a:r>
              <a:t>3</a:t>
            </a:r>
          </a:p>
        </p:txBody>
      </p:sp>
      <p:sp>
        <p:nvSpPr>
          <p:cNvPr id="11" name="TextBox 10"/>
          <p:cNvSpPr txBox="1"/>
          <p:nvPr/>
        </p:nvSpPr>
        <p:spPr>
          <a:xfrm>
            <a:off x="6217920" y="4754880"/>
            <a:ext cx="5212080" cy="1371600"/>
          </a:xfrm>
          <a:prstGeom prst="rect">
            <a:avLst/>
          </a:prstGeom>
          <a:noFill/>
        </p:spPr>
        <p:txBody>
          <a:bodyPr wrap="square">
            <a:spAutoFit/>
          </a:bodyPr>
          <a:lstStyle/>
          <a:p>
            <a:pPr>
              <a:spcAft>
                <a:spcPts val="400"/>
              </a:spcAft>
              <a:defRPr sz="1500" b="1">
                <a:solidFill>
                  <a:srgbClr val="2C3E50"/>
                </a:solidFill>
              </a:defRPr>
            </a:pPr>
            <a:r>
              <a:t>Buffer Analysis &amp; Gender Disparity</a:t>
            </a:r>
          </a:p>
          <a:p>
            <a:pPr>
              <a:defRPr sz="1200">
                <a:solidFill>
                  <a:srgbClr val="7F8C8D"/>
                </a:solidFill>
              </a:defRPr>
            </a:pPr>
            <a:r>
              <a:t>Measure the shielding role of social support and sleep, and evaluate how stress expression diverges between male and female students.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Our Data Science Pipeline</a:t>
            </a:r>
          </a:p>
        </p:txBody>
      </p:sp>
      <p:sp>
        <p:nvSpPr>
          <p:cNvPr id="4" name="Rounded Rectangle 3"/>
          <p:cNvSpPr/>
          <p:nvPr/>
        </p:nvSpPr>
        <p:spPr>
          <a:xfrm>
            <a:off x="731520" y="2011680"/>
            <a:ext cx="2057400" cy="39319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286000"/>
            <a:ext cx="1783080" cy="3383280"/>
          </a:xfrm>
          <a:prstGeom prst="rect">
            <a:avLst/>
          </a:prstGeom>
          <a:noFill/>
        </p:spPr>
        <p:txBody>
          <a:bodyPr wrap="square">
            <a:spAutoFit/>
          </a:bodyPr>
          <a:lstStyle/>
          <a:p>
            <a:pPr>
              <a:spcAft>
                <a:spcPts val="800"/>
              </a:spcAft>
              <a:defRPr sz="1100" b="1">
                <a:solidFill>
                  <a:srgbClr val="D4AF37"/>
                </a:solidFill>
              </a:defRPr>
            </a:pPr>
            <a:r>
              <a:t>STEP 1</a:t>
            </a:r>
          </a:p>
          <a:p>
            <a:pPr>
              <a:spcAft>
                <a:spcPts val="1000"/>
              </a:spcAft>
              <a:defRPr sz="1400" b="1">
                <a:solidFill>
                  <a:srgbClr val="2C3E50"/>
                </a:solidFill>
              </a:defRPr>
            </a:pPr>
            <a:r>
              <a:t>Stage 1: Ingestion &amp; Audit</a:t>
            </a:r>
          </a:p>
          <a:p>
            <a:pPr>
              <a:defRPr sz="1100">
                <a:solidFill>
                  <a:srgbClr val="7F8C8D"/>
                </a:solidFill>
              </a:defRPr>
            </a:pPr>
            <a:r>
              <a:t>Raw survey (87 rows) checked for nulls, duplicates, and header whitespace anomalies.</a:t>
            </a:r>
          </a:p>
        </p:txBody>
      </p:sp>
      <p:sp>
        <p:nvSpPr>
          <p:cNvPr id="6" name="Rounded Rectangle 5"/>
          <p:cNvSpPr/>
          <p:nvPr/>
        </p:nvSpPr>
        <p:spPr>
          <a:xfrm>
            <a:off x="2926080" y="2011680"/>
            <a:ext cx="2057400" cy="39319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40" y="2286000"/>
            <a:ext cx="1783080" cy="3383280"/>
          </a:xfrm>
          <a:prstGeom prst="rect">
            <a:avLst/>
          </a:prstGeom>
          <a:noFill/>
        </p:spPr>
        <p:txBody>
          <a:bodyPr wrap="square">
            <a:spAutoFit/>
          </a:bodyPr>
          <a:lstStyle/>
          <a:p>
            <a:pPr>
              <a:spcAft>
                <a:spcPts val="800"/>
              </a:spcAft>
              <a:defRPr sz="1100" b="1">
                <a:solidFill>
                  <a:srgbClr val="E84393"/>
                </a:solidFill>
              </a:defRPr>
            </a:pPr>
            <a:r>
              <a:t>STEP 2</a:t>
            </a:r>
          </a:p>
          <a:p>
            <a:pPr>
              <a:spcAft>
                <a:spcPts val="1000"/>
              </a:spcAft>
              <a:defRPr sz="1400" b="1">
                <a:solidFill>
                  <a:srgbClr val="2C3E50"/>
                </a:solidFill>
              </a:defRPr>
            </a:pPr>
            <a:r>
              <a:t>Stage 2: Multi-Label Encoding</a:t>
            </a:r>
          </a:p>
          <a:p>
            <a:pPr>
              <a:defRPr sz="1100">
                <a:solidFill>
                  <a:srgbClr val="7F8C8D"/>
                </a:solidFill>
              </a:defRPr>
            </a:pPr>
            <a:r>
              <a:t>MultiLabelBinarizer parsed 38 checkbox combinations into 8 binary indicators.</a:t>
            </a:r>
          </a:p>
        </p:txBody>
      </p:sp>
      <p:sp>
        <p:nvSpPr>
          <p:cNvPr id="8" name="Rounded Rectangle 7"/>
          <p:cNvSpPr/>
          <p:nvPr/>
        </p:nvSpPr>
        <p:spPr>
          <a:xfrm>
            <a:off x="5120640" y="2011680"/>
            <a:ext cx="2057400" cy="39319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57800" y="2286000"/>
            <a:ext cx="1783080" cy="3383280"/>
          </a:xfrm>
          <a:prstGeom prst="rect">
            <a:avLst/>
          </a:prstGeom>
          <a:noFill/>
        </p:spPr>
        <p:txBody>
          <a:bodyPr wrap="square">
            <a:spAutoFit/>
          </a:bodyPr>
          <a:lstStyle/>
          <a:p>
            <a:pPr>
              <a:spcAft>
                <a:spcPts val="800"/>
              </a:spcAft>
              <a:defRPr sz="1100" b="1">
                <a:solidFill>
                  <a:srgbClr val="D4AF37"/>
                </a:solidFill>
              </a:defRPr>
            </a:pPr>
            <a:r>
              <a:t>STEP 3</a:t>
            </a:r>
          </a:p>
          <a:p>
            <a:pPr>
              <a:spcAft>
                <a:spcPts val="1000"/>
              </a:spcAft>
              <a:defRPr sz="1400" b="1">
                <a:solidFill>
                  <a:srgbClr val="2C3E50"/>
                </a:solidFill>
              </a:defRPr>
            </a:pPr>
            <a:r>
              <a:t>Stage 3: Feature Scaling</a:t>
            </a:r>
          </a:p>
          <a:p>
            <a:pPr>
              <a:defRPr sz="1100">
                <a:solidFill>
                  <a:srgbClr val="7F8C8D"/>
                </a:solidFill>
              </a:defRPr>
            </a:pPr>
            <a:r>
              <a:t>StandardScaler applied across 10 core clinical and behavioral dimensions.</a:t>
            </a:r>
          </a:p>
        </p:txBody>
      </p:sp>
      <p:sp>
        <p:nvSpPr>
          <p:cNvPr id="10" name="Rounded Rectangle 9"/>
          <p:cNvSpPr/>
          <p:nvPr/>
        </p:nvSpPr>
        <p:spPr>
          <a:xfrm>
            <a:off x="7315199" y="2011680"/>
            <a:ext cx="2057400" cy="39319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59" y="2286000"/>
            <a:ext cx="1783080" cy="3383280"/>
          </a:xfrm>
          <a:prstGeom prst="rect">
            <a:avLst/>
          </a:prstGeom>
          <a:noFill/>
        </p:spPr>
        <p:txBody>
          <a:bodyPr wrap="square">
            <a:spAutoFit/>
          </a:bodyPr>
          <a:lstStyle/>
          <a:p>
            <a:pPr>
              <a:spcAft>
                <a:spcPts val="800"/>
              </a:spcAft>
              <a:defRPr sz="1100" b="1">
                <a:solidFill>
                  <a:srgbClr val="E84393"/>
                </a:solidFill>
              </a:defRPr>
            </a:pPr>
            <a:r>
              <a:t>STEP 4</a:t>
            </a:r>
          </a:p>
          <a:p>
            <a:pPr>
              <a:spcAft>
                <a:spcPts val="1000"/>
              </a:spcAft>
              <a:defRPr sz="1400" b="1">
                <a:solidFill>
                  <a:srgbClr val="2C3E50"/>
                </a:solidFill>
              </a:defRPr>
            </a:pPr>
            <a:r>
              <a:t>Stage 4: Model Benchmarking</a:t>
            </a:r>
          </a:p>
          <a:p>
            <a:pPr>
              <a:defRPr sz="1100">
                <a:solidFill>
                  <a:srgbClr val="7F8C8D"/>
                </a:solidFill>
              </a:defRPr>
            </a:pPr>
            <a:r>
              <a:t>K-Means, GMM, and Hierarchical evaluated on Silhouette cohesion.</a:t>
            </a:r>
          </a:p>
        </p:txBody>
      </p:sp>
      <p:sp>
        <p:nvSpPr>
          <p:cNvPr id="12" name="Rounded Rectangle 11"/>
          <p:cNvSpPr/>
          <p:nvPr/>
        </p:nvSpPr>
        <p:spPr>
          <a:xfrm>
            <a:off x="9509760" y="2011680"/>
            <a:ext cx="2057400" cy="39319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46920" y="2286000"/>
            <a:ext cx="1783080" cy="3383280"/>
          </a:xfrm>
          <a:prstGeom prst="rect">
            <a:avLst/>
          </a:prstGeom>
          <a:noFill/>
        </p:spPr>
        <p:txBody>
          <a:bodyPr wrap="square">
            <a:spAutoFit/>
          </a:bodyPr>
          <a:lstStyle/>
          <a:p>
            <a:pPr>
              <a:spcAft>
                <a:spcPts val="800"/>
              </a:spcAft>
              <a:defRPr sz="1100" b="1">
                <a:solidFill>
                  <a:srgbClr val="D4AF37"/>
                </a:solidFill>
              </a:defRPr>
            </a:pPr>
            <a:r>
              <a:t>STEP 5</a:t>
            </a:r>
          </a:p>
          <a:p>
            <a:pPr>
              <a:spcAft>
                <a:spcPts val="1000"/>
              </a:spcAft>
              <a:defRPr sz="1400" b="1">
                <a:solidFill>
                  <a:srgbClr val="2C3E50"/>
                </a:solidFill>
              </a:defRPr>
            </a:pPr>
            <a:r>
              <a:t>Stage 5: Profiling &amp; Validation</a:t>
            </a:r>
          </a:p>
          <a:p>
            <a:pPr>
              <a:defRPr sz="1100">
                <a:solidFill>
                  <a:srgbClr val="7F8C8D"/>
                </a:solidFill>
              </a:defRPr>
            </a:pPr>
            <a:r>
              <a:t>2D PCA projection, Random Forest validation (82.7%), and gender cross-tabs.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Dataset and Data Understanding</a:t>
            </a:r>
          </a:p>
        </p:txBody>
      </p:sp>
      <p:sp>
        <p:nvSpPr>
          <p:cNvPr id="4" name="Rounded Rectangle 3"/>
          <p:cNvSpPr/>
          <p:nvPr/>
        </p:nvSpPr>
        <p:spPr>
          <a:xfrm>
            <a:off x="731520" y="1645920"/>
            <a:ext cx="2514600" cy="128016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83080"/>
            <a:ext cx="2514600" cy="1005840"/>
          </a:xfrm>
          <a:prstGeom prst="rect">
            <a:avLst/>
          </a:prstGeom>
          <a:noFill/>
        </p:spPr>
        <p:txBody>
          <a:bodyPr wrap="none">
            <a:spAutoFit/>
          </a:bodyPr>
          <a:lstStyle/>
          <a:p>
            <a:pPr algn="ctr">
              <a:defRPr sz="3600" b="1">
                <a:solidFill>
                  <a:srgbClr val="D4AF37"/>
                </a:solidFill>
              </a:defRPr>
            </a:pPr>
            <a:r>
              <a:t>87</a:t>
            </a:r>
          </a:p>
          <a:p>
            <a:pPr algn="ctr">
              <a:defRPr sz="1000" b="1">
                <a:solidFill>
                  <a:srgbClr val="7F8C8D"/>
                </a:solidFill>
              </a:defRPr>
            </a:pPr>
            <a:r>
              <a:t>TOTAL ROWS / STUDENTS</a:t>
            </a:r>
          </a:p>
        </p:txBody>
      </p:sp>
      <p:sp>
        <p:nvSpPr>
          <p:cNvPr id="6" name="Rounded Rectangle 5"/>
          <p:cNvSpPr/>
          <p:nvPr/>
        </p:nvSpPr>
        <p:spPr>
          <a:xfrm>
            <a:off x="3474720" y="1645920"/>
            <a:ext cx="2514600" cy="128016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1783080"/>
            <a:ext cx="2514600" cy="1005840"/>
          </a:xfrm>
          <a:prstGeom prst="rect">
            <a:avLst/>
          </a:prstGeom>
          <a:noFill/>
        </p:spPr>
        <p:txBody>
          <a:bodyPr wrap="none">
            <a:spAutoFit/>
          </a:bodyPr>
          <a:lstStyle/>
          <a:p>
            <a:pPr algn="ctr">
              <a:defRPr sz="3600" b="1">
                <a:solidFill>
                  <a:srgbClr val="E84393"/>
                </a:solidFill>
              </a:defRPr>
            </a:pPr>
            <a:r>
              <a:t>21</a:t>
            </a:r>
          </a:p>
          <a:p>
            <a:pPr algn="ctr">
              <a:defRPr sz="1000" b="1">
                <a:solidFill>
                  <a:srgbClr val="7F8C8D"/>
                </a:solidFill>
              </a:defRPr>
            </a:pPr>
            <a:r>
              <a:t>RAW SURVEY ATTRIBUTES</a:t>
            </a:r>
          </a:p>
        </p:txBody>
      </p:sp>
      <p:sp>
        <p:nvSpPr>
          <p:cNvPr id="8" name="Rounded Rectangle 7"/>
          <p:cNvSpPr/>
          <p:nvPr/>
        </p:nvSpPr>
        <p:spPr>
          <a:xfrm>
            <a:off x="6217920" y="1645920"/>
            <a:ext cx="2514600" cy="128016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783080"/>
            <a:ext cx="2514600" cy="1005840"/>
          </a:xfrm>
          <a:prstGeom prst="rect">
            <a:avLst/>
          </a:prstGeom>
          <a:noFill/>
        </p:spPr>
        <p:txBody>
          <a:bodyPr wrap="none">
            <a:spAutoFit/>
          </a:bodyPr>
          <a:lstStyle/>
          <a:p>
            <a:pPr algn="ctr">
              <a:defRPr sz="3600" b="1">
                <a:solidFill>
                  <a:srgbClr val="B8860B"/>
                </a:solidFill>
              </a:defRPr>
            </a:pPr>
            <a:r>
              <a:t>38</a:t>
            </a:r>
          </a:p>
          <a:p>
            <a:pPr algn="ctr">
              <a:defRPr sz="1000" b="1">
                <a:solidFill>
                  <a:srgbClr val="7F8C8D"/>
                </a:solidFill>
              </a:defRPr>
            </a:pPr>
            <a:r>
              <a:t>PREPROCESSED FEATURES</a:t>
            </a:r>
          </a:p>
        </p:txBody>
      </p:sp>
      <p:sp>
        <p:nvSpPr>
          <p:cNvPr id="10" name="Rounded Rectangle 9"/>
          <p:cNvSpPr/>
          <p:nvPr/>
        </p:nvSpPr>
        <p:spPr>
          <a:xfrm>
            <a:off x="8961120" y="1645920"/>
            <a:ext cx="2514600" cy="128016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783080"/>
            <a:ext cx="2514600" cy="1005840"/>
          </a:xfrm>
          <a:prstGeom prst="rect">
            <a:avLst/>
          </a:prstGeom>
          <a:noFill/>
        </p:spPr>
        <p:txBody>
          <a:bodyPr wrap="none">
            <a:spAutoFit/>
          </a:bodyPr>
          <a:lstStyle/>
          <a:p>
            <a:pPr algn="ctr">
              <a:defRPr sz="3600" b="1">
                <a:solidFill>
                  <a:srgbClr val="C2185B"/>
                </a:solidFill>
              </a:defRPr>
            </a:pPr>
            <a:r>
              <a:t>0</a:t>
            </a:r>
          </a:p>
          <a:p>
            <a:pPr algn="ctr">
              <a:defRPr sz="1000" b="1">
                <a:solidFill>
                  <a:srgbClr val="7F8C8D"/>
                </a:solidFill>
              </a:defRPr>
            </a:pPr>
            <a:r>
              <a:t>MISSING DATA VALUES</a:t>
            </a:r>
          </a:p>
        </p:txBody>
      </p:sp>
      <p:sp>
        <p:nvSpPr>
          <p:cNvPr id="12" name="Rounded Rectangle 11"/>
          <p:cNvSpPr/>
          <p:nvPr/>
        </p:nvSpPr>
        <p:spPr>
          <a:xfrm>
            <a:off x="731520" y="3200400"/>
            <a:ext cx="2514600" cy="30175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74720"/>
            <a:ext cx="2148840" cy="2468880"/>
          </a:xfrm>
          <a:prstGeom prst="rect">
            <a:avLst/>
          </a:prstGeom>
          <a:noFill/>
        </p:spPr>
        <p:txBody>
          <a:bodyPr wrap="square">
            <a:spAutoFit/>
          </a:bodyPr>
          <a:lstStyle/>
          <a:p>
            <a:pPr>
              <a:spcAft>
                <a:spcPts val="800"/>
              </a:spcAft>
              <a:defRPr sz="1400" b="1">
                <a:solidFill>
                  <a:srgbClr val="2C3E50"/>
                </a:solidFill>
              </a:defRPr>
            </a:pPr>
            <a:r>
              <a:t>Demographics</a:t>
            </a:r>
          </a:p>
          <a:p>
            <a:pPr>
              <a:defRPr sz="1100">
                <a:solidFill>
                  <a:srgbClr val="7F8C8D"/>
                </a:solidFill>
              </a:defRPr>
            </a:pPr>
            <a:r>
              <a:t>72.4% Male (63), 27.6% Female (24). 97.7% Undergraduate (85), only 2 Postgraduates (dropped from distance modeling due to near-zero variance).</a:t>
            </a:r>
          </a:p>
        </p:txBody>
      </p:sp>
      <p:sp>
        <p:nvSpPr>
          <p:cNvPr id="14" name="Rounded Rectangle 13"/>
          <p:cNvSpPr/>
          <p:nvPr/>
        </p:nvSpPr>
        <p:spPr>
          <a:xfrm>
            <a:off x="3474720" y="3200400"/>
            <a:ext cx="2514600" cy="30175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3474720"/>
            <a:ext cx="2148840" cy="2468880"/>
          </a:xfrm>
          <a:prstGeom prst="rect">
            <a:avLst/>
          </a:prstGeom>
          <a:noFill/>
        </p:spPr>
        <p:txBody>
          <a:bodyPr wrap="square">
            <a:spAutoFit/>
          </a:bodyPr>
          <a:lstStyle/>
          <a:p>
            <a:pPr>
              <a:spcAft>
                <a:spcPts val="800"/>
              </a:spcAft>
              <a:defRPr sz="1400" b="1">
                <a:solidFill>
                  <a:srgbClr val="2C3E50"/>
                </a:solidFill>
              </a:defRPr>
            </a:pPr>
            <a:r>
              <a:t>Academic Majors</a:t>
            </a:r>
          </a:p>
          <a:p>
            <a:pPr>
              <a:defRPr sz="1100">
                <a:solidFill>
                  <a:srgbClr val="7F8C8D"/>
                </a:solidFill>
              </a:defRPr>
            </a:pPr>
            <a:r>
              <a:t>86.2% STEM: Data Science (41) and Computer Science (34), followed by IT (9) and Software Engineering (3).</a:t>
            </a:r>
          </a:p>
        </p:txBody>
      </p:sp>
      <p:sp>
        <p:nvSpPr>
          <p:cNvPr id="16" name="Rounded Rectangle 15"/>
          <p:cNvSpPr/>
          <p:nvPr/>
        </p:nvSpPr>
        <p:spPr>
          <a:xfrm>
            <a:off x="6217920" y="3200400"/>
            <a:ext cx="2514600" cy="30175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474720"/>
            <a:ext cx="2148840" cy="2468880"/>
          </a:xfrm>
          <a:prstGeom prst="rect">
            <a:avLst/>
          </a:prstGeom>
          <a:noFill/>
        </p:spPr>
        <p:txBody>
          <a:bodyPr wrap="square">
            <a:spAutoFit/>
          </a:bodyPr>
          <a:lstStyle/>
          <a:p>
            <a:pPr>
              <a:spcAft>
                <a:spcPts val="800"/>
              </a:spcAft>
              <a:defRPr sz="1400" b="1">
                <a:solidFill>
                  <a:srgbClr val="2C3E50"/>
                </a:solidFill>
              </a:defRPr>
            </a:pPr>
            <a:r>
              <a:t>Psychometric Scales</a:t>
            </a:r>
          </a:p>
          <a:p>
            <a:pPr>
              <a:defRPr sz="1100">
                <a:solidFill>
                  <a:srgbClr val="7F8C8D"/>
                </a:solidFill>
              </a:defRPr>
            </a:pPr>
            <a:r>
              <a:t>Discrete Likert metrics (1 - 5) for depression, anxiety, isolation, future insecurity, academic pressure, and study satisfaction.</a:t>
            </a:r>
          </a:p>
        </p:txBody>
      </p:sp>
      <p:sp>
        <p:nvSpPr>
          <p:cNvPr id="18" name="Rounded Rectangle 17"/>
          <p:cNvSpPr/>
          <p:nvPr/>
        </p:nvSpPr>
        <p:spPr>
          <a:xfrm>
            <a:off x="8961120" y="3200400"/>
            <a:ext cx="2514600" cy="301752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0" y="3474720"/>
            <a:ext cx="2148840" cy="2468880"/>
          </a:xfrm>
          <a:prstGeom prst="rect">
            <a:avLst/>
          </a:prstGeom>
          <a:noFill/>
        </p:spPr>
        <p:txBody>
          <a:bodyPr wrap="square">
            <a:spAutoFit/>
          </a:bodyPr>
          <a:lstStyle/>
          <a:p>
            <a:pPr>
              <a:spcAft>
                <a:spcPts val="800"/>
              </a:spcAft>
              <a:defRPr sz="1400" b="1">
                <a:solidFill>
                  <a:srgbClr val="2C3E50"/>
                </a:solidFill>
              </a:defRPr>
            </a:pPr>
            <a:r>
              <a:t>Data Quality &amp; Cleaning</a:t>
            </a:r>
          </a:p>
          <a:p>
            <a:pPr>
              <a:defRPr sz="1100">
                <a:solidFill>
                  <a:srgbClr val="7F8C8D"/>
                </a:solidFill>
              </a:defRPr>
            </a:pPr>
            <a:r>
              <a:t>100% complete data (0 missing). Raw column 'academic_workload ' had trailing whitespace; audited and sanitized via string strip.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Lifestyle Habits &amp; Academic Demands (EDA)</a:t>
            </a:r>
          </a:p>
        </p:txBody>
      </p:sp>
      <p:pic>
        <p:nvPicPr>
          <p:cNvPr id="4" name="Picture 3" descr="01_lifestyle_and_workload_dashboard.png"/>
          <p:cNvPicPr>
            <a:picLocks noChangeAspect="1"/>
          </p:cNvPicPr>
          <p:nvPr/>
        </p:nvPicPr>
        <p:blipFill>
          <a:blip r:embed="rId2"/>
          <a:stretch>
            <a:fillRect/>
          </a:stretch>
        </p:blipFill>
        <p:spPr>
          <a:xfrm>
            <a:off x="731520" y="1645920"/>
            <a:ext cx="7132320" cy="4937760"/>
          </a:xfrm>
          <a:prstGeom prst="rect">
            <a:avLst/>
          </a:prstGeom>
        </p:spPr>
      </p:pic>
      <p:sp>
        <p:nvSpPr>
          <p:cNvPr id="5" name="TextBox 4"/>
          <p:cNvSpPr txBox="1"/>
          <p:nvPr/>
        </p:nvSpPr>
        <p:spPr>
          <a:xfrm>
            <a:off x="8046720" y="1645920"/>
            <a:ext cx="3474720" cy="4572000"/>
          </a:xfrm>
          <a:prstGeom prst="rect">
            <a:avLst/>
          </a:prstGeom>
          <a:noFill/>
        </p:spPr>
        <p:txBody>
          <a:bodyPr wrap="square">
            <a:spAutoFit/>
          </a:bodyPr>
          <a:lstStyle/>
          <a:p>
            <a:pPr>
              <a:defRPr sz="1400" b="1">
                <a:solidFill>
                  <a:srgbClr val="B8860B"/>
                </a:solidFill>
              </a:defRPr>
            </a:pPr>
            <a:r>
              <a:t>48.3% Sedentary</a:t>
            </a:r>
          </a:p>
          <a:p>
            <a:pPr>
              <a:spcAft>
                <a:spcPts val="1000"/>
              </a:spcAft>
              <a:defRPr sz="1100">
                <a:solidFill>
                  <a:srgbClr val="7F8C8D"/>
                </a:solidFill>
              </a:defRPr>
            </a:pPr>
            <a:r>
              <a:t>Nearly half the cohort does zero sports or physical exercise weekly; 76% exercise &lt;= 3 times a week.</a:t>
            </a:r>
          </a:p>
          <a:p>
            <a:pPr>
              <a:defRPr sz="1400" b="1">
                <a:solidFill>
                  <a:srgbClr val="B8860B"/>
                </a:solidFill>
              </a:defRPr>
            </a:pPr>
            <a:r>
              <a:t>63.2% Sleep Deprived</a:t>
            </a:r>
          </a:p>
          <a:p>
            <a:pPr>
              <a:spcAft>
                <a:spcPts val="1000"/>
              </a:spcAft>
              <a:defRPr sz="1100">
                <a:solidFill>
                  <a:srgbClr val="7F8C8D"/>
                </a:solidFill>
              </a:defRPr>
            </a:pPr>
            <a:r>
              <a:t>Majority of students average under 7 hours of sleep (57.5% get only 4-6 hours), acting as a primary biological stressor.</a:t>
            </a:r>
          </a:p>
          <a:p>
            <a:pPr>
              <a:defRPr sz="1400" b="1">
                <a:solidFill>
                  <a:srgbClr val="B8860B"/>
                </a:solidFill>
              </a:defRPr>
            </a:pPr>
            <a:r>
              <a:t>69.0% Heavy Workload</a:t>
            </a:r>
          </a:p>
          <a:p>
            <a:pPr>
              <a:spcAft>
                <a:spcPts val="1000"/>
              </a:spcAft>
              <a:defRPr sz="1100">
                <a:solidFill>
                  <a:srgbClr val="7F8C8D"/>
                </a:solidFill>
              </a:defRPr>
            </a:pPr>
            <a:r>
              <a:t>Rated workload 4 or 5 out of 5. Literally zero students rated their workload 1 ('Light').</a:t>
            </a:r>
          </a:p>
          <a:p>
            <a:pPr>
              <a:defRPr sz="1400" b="1">
                <a:solidFill>
                  <a:srgbClr val="B8860B"/>
                </a:solidFill>
              </a:defRPr>
            </a:pPr>
            <a:r>
              <a:t>The Satisfaction Paradox</a:t>
            </a:r>
          </a:p>
          <a:p>
            <a:pPr>
              <a:spcAft>
                <a:spcPts val="1000"/>
              </a:spcAft>
              <a:defRPr sz="1100">
                <a:solidFill>
                  <a:srgbClr val="7F8C8D"/>
                </a:solidFill>
              </a:defRPr>
            </a:pPr>
            <a:r>
              <a:t>66.7% report high study satisfaction (&gt;= 4). Students love their field; distress is driven by coursework volume, not course resentment.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Feature Engineering: Multi-Label Stress Relievers</a:t>
            </a:r>
          </a:p>
        </p:txBody>
      </p:sp>
      <p:pic>
        <p:nvPicPr>
          <p:cNvPr id="4" name="Picture 3" descr="02_stress_relief_frequencies.png"/>
          <p:cNvPicPr>
            <a:picLocks noChangeAspect="1"/>
          </p:cNvPicPr>
          <p:nvPr/>
        </p:nvPicPr>
        <p:blipFill>
          <a:blip r:embed="rId2"/>
          <a:stretch>
            <a:fillRect/>
          </a:stretch>
        </p:blipFill>
        <p:spPr>
          <a:xfrm>
            <a:off x="731520" y="1645920"/>
            <a:ext cx="7132320" cy="3922776"/>
          </a:xfrm>
          <a:prstGeom prst="rect">
            <a:avLst/>
          </a:prstGeom>
        </p:spPr>
      </p:pic>
      <p:sp>
        <p:nvSpPr>
          <p:cNvPr id="5" name="TextBox 4"/>
          <p:cNvSpPr txBox="1"/>
          <p:nvPr/>
        </p:nvSpPr>
        <p:spPr>
          <a:xfrm>
            <a:off x="8046720" y="1645920"/>
            <a:ext cx="3474720" cy="4572000"/>
          </a:xfrm>
          <a:prstGeom prst="rect">
            <a:avLst/>
          </a:prstGeom>
          <a:noFill/>
        </p:spPr>
        <p:txBody>
          <a:bodyPr wrap="square">
            <a:spAutoFit/>
          </a:bodyPr>
          <a:lstStyle/>
          <a:p>
            <a:pPr>
              <a:defRPr sz="1400" b="1">
                <a:solidFill>
                  <a:srgbClr val="E84393"/>
                </a:solidFill>
              </a:defRPr>
            </a:pPr>
            <a:r>
              <a:t>Technical Challenge</a:t>
            </a:r>
          </a:p>
          <a:p>
            <a:pPr>
              <a:spcAft>
                <a:spcPts val="1000"/>
              </a:spcAft>
              <a:defRPr sz="1100">
                <a:solidFill>
                  <a:srgbClr val="7F8C8D"/>
                </a:solidFill>
              </a:defRPr>
            </a:pPr>
            <a:r>
              <a:t>Allowing checkbox multiselect yielded 38 unique combination strings for only 8 activities. Standard one-hot encoding would explode dimensions (1:2 feature-to-row ratio).</a:t>
            </a:r>
          </a:p>
          <a:p>
            <a:pPr>
              <a:defRPr sz="1400" b="1">
                <a:solidFill>
                  <a:srgbClr val="E84393"/>
                </a:solidFill>
              </a:defRPr>
            </a:pPr>
            <a:r>
              <a:t>MultiLabelBinarizer</a:t>
            </a:r>
          </a:p>
          <a:p>
            <a:pPr>
              <a:spcAft>
                <a:spcPts val="1000"/>
              </a:spcAft>
              <a:defRPr sz="1100">
                <a:solidFill>
                  <a:srgbClr val="7F8C8D"/>
                </a:solidFill>
              </a:defRPr>
            </a:pPr>
            <a:r>
              <a:t>Scikit-Learn's MultiLabelBinarizer parsed comma-separated choices into 8 clean binary columns.</a:t>
            </a:r>
          </a:p>
          <a:p>
            <a:pPr>
              <a:defRPr sz="1400" b="1">
                <a:solidFill>
                  <a:srgbClr val="E84393"/>
                </a:solidFill>
              </a:defRPr>
            </a:pPr>
            <a:r>
              <a:t>Top Outlets</a:t>
            </a:r>
          </a:p>
          <a:p>
            <a:pPr>
              <a:spcAft>
                <a:spcPts val="1000"/>
              </a:spcAft>
              <a:defRPr sz="1100">
                <a:solidFill>
                  <a:srgbClr val="7F8C8D"/>
                </a:solidFill>
              </a:defRPr>
            </a:pPr>
            <a:r>
              <a:t>Religious Activities (52.9%) and Online Entertainment (42.5%) were selected most, followed by Social Connections (37.9%).</a:t>
            </a:r>
          </a:p>
          <a:p>
            <a:pPr>
              <a:defRPr sz="1400" b="1">
                <a:solidFill>
                  <a:srgbClr val="E84393"/>
                </a:solidFill>
              </a:defRPr>
            </a:pPr>
            <a:r>
              <a:t>Solitary Coping Risk</a:t>
            </a:r>
          </a:p>
          <a:p>
            <a:pPr>
              <a:spcAft>
                <a:spcPts val="1000"/>
              </a:spcAft>
              <a:defRPr sz="1100">
                <a:solidFill>
                  <a:srgbClr val="7F8C8D"/>
                </a:solidFill>
              </a:defRPr>
            </a:pPr>
            <a:r>
              <a:t>Students in high distress disproportionately turn to online escapism and excessive sleep rather than physical or peer outlets.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Correlation Matrix: Clinical Triad &amp; Social Buffers</a:t>
            </a:r>
          </a:p>
        </p:txBody>
      </p:sp>
      <p:pic>
        <p:nvPicPr>
          <p:cNvPr id="4" name="Picture 3" descr="03_core_correlation_heatmap.png"/>
          <p:cNvPicPr>
            <a:picLocks noChangeAspect="1"/>
          </p:cNvPicPr>
          <p:nvPr/>
        </p:nvPicPr>
        <p:blipFill>
          <a:blip r:embed="rId2"/>
          <a:stretch>
            <a:fillRect/>
          </a:stretch>
        </p:blipFill>
        <p:spPr>
          <a:xfrm>
            <a:off x="731520" y="1645920"/>
            <a:ext cx="6217920" cy="4974336"/>
          </a:xfrm>
          <a:prstGeom prst="rect">
            <a:avLst/>
          </a:prstGeom>
        </p:spPr>
      </p:pic>
      <p:sp>
        <p:nvSpPr>
          <p:cNvPr id="5" name="TextBox 4"/>
          <p:cNvSpPr txBox="1"/>
          <p:nvPr/>
        </p:nvSpPr>
        <p:spPr>
          <a:xfrm>
            <a:off x="7223760" y="1645920"/>
            <a:ext cx="4297680" cy="4572000"/>
          </a:xfrm>
          <a:prstGeom prst="rect">
            <a:avLst/>
          </a:prstGeom>
          <a:noFill/>
        </p:spPr>
        <p:txBody>
          <a:bodyPr wrap="square">
            <a:spAutoFit/>
          </a:bodyPr>
          <a:lstStyle/>
          <a:p>
            <a:pPr>
              <a:defRPr sz="1400" b="1">
                <a:solidFill>
                  <a:srgbClr val="C2185B"/>
                </a:solidFill>
              </a:defRPr>
            </a:pPr>
            <a:r>
              <a:t>The Clinical Distress Triad</a:t>
            </a:r>
          </a:p>
          <a:p>
            <a:pPr>
              <a:spcAft>
                <a:spcPts val="1200"/>
              </a:spcAft>
              <a:defRPr sz="1100">
                <a:solidFill>
                  <a:srgbClr val="7F8C8D"/>
                </a:solidFill>
              </a:defRPr>
            </a:pPr>
            <a:r>
              <a:t>Depression, Anxiety, and Isolation are intensely coupled:</a:t>
            </a:r>
            <a:br/>
            <a:r>
              <a:t>• Depression &lt;-&gt; Anxiety: r = +0.84</a:t>
            </a:r>
            <a:br/>
            <a:r>
              <a:t>• Depression &lt;-&gt; Isolation: r = +0.71</a:t>
            </a:r>
            <a:br/>
            <a:r>
              <a:t>• Anxiety &lt;-&gt; Isolation: r = +0.67</a:t>
            </a:r>
            <a:br/>
            <a:r>
              <a:t>When a student experiences one symptom, they almost invariably suffer from the others.</a:t>
            </a:r>
          </a:p>
          <a:p>
            <a:pPr>
              <a:defRPr sz="1400" b="1">
                <a:solidFill>
                  <a:srgbClr val="B8860B"/>
                </a:solidFill>
              </a:defRPr>
            </a:pPr>
            <a:r>
              <a:t>The Primary Psychological Buffer</a:t>
            </a:r>
          </a:p>
          <a:p>
            <a:pPr>
              <a:spcAft>
                <a:spcPts val="1200"/>
              </a:spcAft>
              <a:defRPr sz="1100">
                <a:solidFill>
                  <a:srgbClr val="7F8C8D"/>
                </a:solidFill>
              </a:defRPr>
            </a:pPr>
            <a:r>
              <a:t>Social Relationships &lt;-&gt; Isolation: r = -0.56</a:t>
            </a:r>
            <a:br/>
            <a:r>
              <a:t>High-quality interpersonal connection is the single strongest negative correlation in the dataset, actively shielding students from isolation.</a:t>
            </a:r>
          </a:p>
          <a:p>
            <a:pPr>
              <a:defRPr sz="1400" b="1">
                <a:solidFill>
                  <a:srgbClr val="E84393"/>
                </a:solidFill>
              </a:defRPr>
            </a:pPr>
            <a:r>
              <a:t>Workload vs Satisfaction Independence</a:t>
            </a:r>
          </a:p>
          <a:p>
            <a:pPr>
              <a:spcAft>
                <a:spcPts val="1200"/>
              </a:spcAft>
              <a:defRPr sz="1100">
                <a:solidFill>
                  <a:srgbClr val="7F8C8D"/>
                </a:solidFill>
              </a:defRPr>
            </a:pPr>
            <a:r>
              <a:t>Workload correlates strongly with Academic Pressure (r = +0.52), but shows virtually zero correlation with Study Satisfaction (r = -0.05), confirming distress is operational, not motivational.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Multicollinearity Audit: Protecting Distance Metrics</a:t>
            </a:r>
          </a:p>
        </p:txBody>
      </p:sp>
      <p:sp>
        <p:nvSpPr>
          <p:cNvPr id="4" name="Rounded Rectangle 3"/>
          <p:cNvSpPr/>
          <p:nvPr/>
        </p:nvSpPr>
        <p:spPr>
          <a:xfrm>
            <a:off x="731520" y="1645920"/>
            <a:ext cx="548640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5120640" cy="4114800"/>
          </a:xfrm>
          <a:prstGeom prst="rect">
            <a:avLst/>
          </a:prstGeom>
          <a:noFill/>
        </p:spPr>
        <p:txBody>
          <a:bodyPr wrap="square">
            <a:spAutoFit/>
          </a:bodyPr>
          <a:lstStyle/>
          <a:p>
            <a:pPr>
              <a:spcAft>
                <a:spcPts val="1200"/>
              </a:spcAft>
              <a:defRPr sz="1200" b="1">
                <a:solidFill>
                  <a:srgbClr val="B8860B"/>
                </a:solidFill>
              </a:defRPr>
            </a:pPr>
            <a:r>
              <a:t>CRAMÉR'S V CATEGORICAL ASSOCIATIONS</a:t>
            </a:r>
          </a:p>
          <a:p>
            <a:pPr>
              <a:spcAft>
                <a:spcPts val="800"/>
              </a:spcAft>
              <a:defRPr sz="1100">
                <a:solidFill>
                  <a:srgbClr val="2C3E50"/>
                </a:solidFill>
              </a:defRPr>
            </a:pPr>
            <a:r>
              <a:t>• Degree Major &lt;-&gt; Academic Year:  V = 0.634  (High Association)</a:t>
            </a:r>
          </a:p>
          <a:p>
            <a:pPr>
              <a:spcAft>
                <a:spcPts val="800"/>
              </a:spcAft>
              <a:defRPr sz="1100">
                <a:solidFill>
                  <a:srgbClr val="2C3E50"/>
                </a:solidFill>
              </a:defRPr>
            </a:pPr>
            <a:r>
              <a:t>• University &lt;-&gt; Academic Year:  V = 0.593  (High Association)</a:t>
            </a:r>
          </a:p>
          <a:p>
            <a:pPr>
              <a:spcAft>
                <a:spcPts val="800"/>
              </a:spcAft>
              <a:defRPr sz="1100">
                <a:solidFill>
                  <a:srgbClr val="2C3E50"/>
                </a:solidFill>
              </a:defRPr>
            </a:pPr>
            <a:r>
              <a:t>• University &lt;-&gt; Degree Major:  V = 0.577  (High Association)</a:t>
            </a:r>
          </a:p>
          <a:p>
            <a:pPr>
              <a:spcAft>
                <a:spcPts val="800"/>
              </a:spcAft>
              <a:defRPr sz="1100">
                <a:solidFill>
                  <a:srgbClr val="2C3E50"/>
                </a:solidFill>
              </a:defRPr>
            </a:pPr>
            <a:r>
              <a:t>• Sports Engagement &lt;-&gt; Sports Relief:  V = 0.438  (Moderate Association)</a:t>
            </a:r>
          </a:p>
          <a:p>
            <a:pPr>
              <a:spcAft>
                <a:spcPts val="800"/>
              </a:spcAft>
              <a:defRPr sz="1100">
                <a:solidFill>
                  <a:srgbClr val="2C3E50"/>
                </a:solidFill>
              </a:defRPr>
            </a:pPr>
            <a:r>
              <a:t>• University &lt;-&gt; Outdoor Activities:  V = 0.425  (Moderate Association)</a:t>
            </a:r>
          </a:p>
        </p:txBody>
      </p:sp>
      <p:sp>
        <p:nvSpPr>
          <p:cNvPr id="6" name="TextBox 5"/>
          <p:cNvSpPr txBox="1"/>
          <p:nvPr/>
        </p:nvSpPr>
        <p:spPr>
          <a:xfrm>
            <a:off x="6492240" y="1645920"/>
            <a:ext cx="4937760" cy="4572000"/>
          </a:xfrm>
          <a:prstGeom prst="rect">
            <a:avLst/>
          </a:prstGeom>
          <a:noFill/>
        </p:spPr>
        <p:txBody>
          <a:bodyPr wrap="square">
            <a:spAutoFit/>
          </a:bodyPr>
          <a:lstStyle/>
          <a:p>
            <a:pPr>
              <a:spcAft>
                <a:spcPts val="1200"/>
              </a:spcAft>
              <a:defRPr sz="1200" b="1">
                <a:solidFill>
                  <a:srgbClr val="E84393"/>
                </a:solidFill>
              </a:defRPr>
            </a:pPr>
            <a:r>
              <a:t>METHODOLOGICAL DECISION</a:t>
            </a:r>
          </a:p>
          <a:p>
            <a:pPr>
              <a:defRPr sz="1200">
                <a:solidFill>
                  <a:srgbClr val="7F8C8D"/>
                </a:solidFill>
              </a:defRPr>
            </a:pPr>
            <a:r>
              <a:t>Why Demographics Were Excluded from Distance Clustering:</a:t>
            </a:r>
            <a:br/>
            <a:br/>
            <a:r>
              <a:t>1. Cohort Sampling Bias: Specific batches (e.g. Data Science at PU) were sampled in 1st/2nd years, while CS was sampled in 3rd year at UET.</a:t>
            </a:r>
            <a:br/>
            <a:br/>
            <a:r>
              <a:t>2. Distance Distortion: If 13 one-hot demographic columns were included, Euclidean distance would cluster students by campus and major rather than psychological distress.</a:t>
            </a:r>
            <a:br/>
            <a:br/>
            <a:r>
              <a:t>3. Solution: Isolated clustering strictly to 10 clinical and behavioral scales, reserving demographics for post-hoc profiling.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Model Selection: Benchmarking Unsupervised Paradigms</a:t>
            </a:r>
          </a:p>
        </p:txBody>
      </p:sp>
      <p:pic>
        <p:nvPicPr>
          <p:cNvPr id="4" name="Picture 3" descr="06_clustering_benchmark_comparison.png"/>
          <p:cNvPicPr>
            <a:picLocks noChangeAspect="1"/>
          </p:cNvPicPr>
          <p:nvPr/>
        </p:nvPicPr>
        <p:blipFill>
          <a:blip r:embed="rId2"/>
          <a:stretch>
            <a:fillRect/>
          </a:stretch>
        </p:blipFill>
        <p:spPr>
          <a:xfrm>
            <a:off x="731520" y="1645920"/>
            <a:ext cx="6583680" cy="3291840"/>
          </a:xfrm>
          <a:prstGeom prst="rect">
            <a:avLst/>
          </a:prstGeom>
        </p:spPr>
      </p:pic>
      <p:sp>
        <p:nvSpPr>
          <p:cNvPr id="5" name="TextBox 4"/>
          <p:cNvSpPr txBox="1"/>
          <p:nvPr/>
        </p:nvSpPr>
        <p:spPr>
          <a:xfrm>
            <a:off x="7498079" y="1645920"/>
            <a:ext cx="4023360" cy="4572000"/>
          </a:xfrm>
          <a:prstGeom prst="rect">
            <a:avLst/>
          </a:prstGeom>
          <a:noFill/>
        </p:spPr>
        <p:txBody>
          <a:bodyPr wrap="square">
            <a:spAutoFit/>
          </a:bodyPr>
          <a:lstStyle/>
          <a:p>
            <a:pPr>
              <a:defRPr sz="1400" b="1">
                <a:solidFill>
                  <a:srgbClr val="B8860B"/>
                </a:solidFill>
              </a:defRPr>
            </a:pPr>
            <a:r>
              <a:t>Why K-Means (k=3) Won</a:t>
            </a:r>
          </a:p>
          <a:p>
            <a:pPr>
              <a:spcAft>
                <a:spcPts val="1200"/>
              </a:spcAft>
              <a:defRPr sz="1100">
                <a:solidFill>
                  <a:srgbClr val="7F8C8D"/>
                </a:solidFill>
              </a:defRPr>
            </a:pPr>
            <a:r>
              <a:t>While k=2 yielded silhouette 0.213, it oversimplified students into a binary split. K-Means with k=3 (0.166) successfully isolates the clinically vital 'Socially Buffered' profile that carries heavy workload without depression.</a:t>
            </a:r>
          </a:p>
          <a:p>
            <a:pPr>
              <a:defRPr sz="1400" b="1">
                <a:solidFill>
                  <a:srgbClr val="2C3E50"/>
                </a:solidFill>
              </a:defRPr>
            </a:pPr>
            <a:r>
              <a:t>Agglomerative Clustering (0.134)</a:t>
            </a:r>
          </a:p>
          <a:p>
            <a:pPr>
              <a:spcAft>
                <a:spcPts val="1200"/>
              </a:spcAft>
              <a:defRPr sz="1100">
                <a:solidFill>
                  <a:srgbClr val="7F8C8D"/>
                </a:solidFill>
              </a:defRPr>
            </a:pPr>
            <a:r>
              <a:t>Hierarchical linkage produced uneven cluster splits with small chain clusters, less robust for operational profiling.</a:t>
            </a:r>
          </a:p>
          <a:p>
            <a:pPr>
              <a:defRPr sz="1400" b="1">
                <a:solidFill>
                  <a:srgbClr val="C2185B"/>
                </a:solidFill>
              </a:defRPr>
            </a:pPr>
            <a:r>
              <a:t>Gaussian Mixture Models (0.091)</a:t>
            </a:r>
          </a:p>
          <a:p>
            <a:pPr>
              <a:spcAft>
                <a:spcPts val="1200"/>
              </a:spcAft>
              <a:defRPr sz="1100">
                <a:solidFill>
                  <a:srgbClr val="7F8C8D"/>
                </a:solidFill>
              </a:defRPr>
            </a:pPr>
            <a:r>
              <a:t>GMM suffered severely from covariance matrix singularity due to sample size (N=87) across 10 dimensions.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Mathematical Validation: Elbow Curve &amp; Silhouette Metric</a:t>
            </a:r>
          </a:p>
        </p:txBody>
      </p:sp>
      <p:pic>
        <p:nvPicPr>
          <p:cNvPr id="4" name="Picture 3" descr="08_elbow_and_silhouette_evaluation.png"/>
          <p:cNvPicPr>
            <a:picLocks noChangeAspect="1"/>
          </p:cNvPicPr>
          <p:nvPr/>
        </p:nvPicPr>
        <p:blipFill>
          <a:blip r:embed="rId2"/>
          <a:stretch>
            <a:fillRect/>
          </a:stretch>
        </p:blipFill>
        <p:spPr>
          <a:xfrm>
            <a:off x="731520" y="1645920"/>
            <a:ext cx="6766560" cy="3821116"/>
          </a:xfrm>
          <a:prstGeom prst="rect">
            <a:avLst/>
          </a:prstGeom>
        </p:spPr>
      </p:pic>
      <p:sp>
        <p:nvSpPr>
          <p:cNvPr id="5" name="TextBox 4"/>
          <p:cNvSpPr txBox="1"/>
          <p:nvPr/>
        </p:nvSpPr>
        <p:spPr>
          <a:xfrm>
            <a:off x="7680960" y="1645920"/>
            <a:ext cx="3840480" cy="4572000"/>
          </a:xfrm>
          <a:prstGeom prst="rect">
            <a:avLst/>
          </a:prstGeom>
          <a:noFill/>
        </p:spPr>
        <p:txBody>
          <a:bodyPr wrap="square">
            <a:spAutoFit/>
          </a:bodyPr>
          <a:lstStyle/>
          <a:p>
            <a:pPr>
              <a:defRPr sz="1400" b="1">
                <a:solidFill>
                  <a:srgbClr val="B8860B"/>
                </a:solidFill>
              </a:defRPr>
            </a:pPr>
            <a:r>
              <a:t>Inertia Elbow Drop</a:t>
            </a:r>
          </a:p>
          <a:p>
            <a:pPr>
              <a:spcAft>
                <a:spcPts val="1200"/>
              </a:spcAft>
              <a:defRPr sz="1100">
                <a:solidFill>
                  <a:srgbClr val="7F8C8D"/>
                </a:solidFill>
              </a:defRPr>
            </a:pPr>
            <a:r>
              <a:t>The Within-Cluster Sum of Squares (Inertia) drops steeply from k=2 (645.9) to k=3 (581.2), after which marginal variance explained slows down.</a:t>
            </a:r>
          </a:p>
          <a:p>
            <a:pPr>
              <a:defRPr sz="1400" b="1">
                <a:solidFill>
                  <a:srgbClr val="E84393"/>
                </a:solidFill>
              </a:defRPr>
            </a:pPr>
            <a:r>
              <a:t>Dual Metric Cohesion</a:t>
            </a:r>
          </a:p>
          <a:p>
            <a:pPr>
              <a:spcAft>
                <a:spcPts val="1200"/>
              </a:spcAft>
              <a:defRPr sz="1100">
                <a:solidFill>
                  <a:srgbClr val="7F8C8D"/>
                </a:solidFill>
              </a:defRPr>
            </a:pPr>
            <a:r>
              <a:t>Evaluating Inertia alongside Silhouette confirms that k=3 preserves compact cluster centroids while capturing distinct psychological subgroups.</a:t>
            </a:r>
          </a:p>
          <a:p>
            <a:pPr>
              <a:defRPr sz="1400" b="1">
                <a:solidFill>
                  <a:srgbClr val="2C3E50"/>
                </a:solidFill>
              </a:defRPr>
            </a:pPr>
            <a:r>
              <a:t>Proof Against Random Noise</a:t>
            </a:r>
          </a:p>
          <a:p>
            <a:pPr>
              <a:spcAft>
                <a:spcPts val="1200"/>
              </a:spcAft>
              <a:defRPr sz="1100">
                <a:solidFill>
                  <a:srgbClr val="7F8C8D"/>
                </a:solidFill>
              </a:defRPr>
            </a:pPr>
            <a:r>
              <a:t>If survey responses were uniform random noise, inertia would decrease strictly linearly with zero plateau.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2D PCA Dimensionality Reduction: Visual Cluster Separation</a:t>
            </a:r>
          </a:p>
        </p:txBody>
      </p:sp>
      <p:pic>
        <p:nvPicPr>
          <p:cNvPr id="4" name="Picture 3" descr="04_kmeans_pca_stress_profiles.png"/>
          <p:cNvPicPr>
            <a:picLocks noChangeAspect="1"/>
          </p:cNvPicPr>
          <p:nvPr/>
        </p:nvPicPr>
        <p:blipFill>
          <a:blip r:embed="rId2"/>
          <a:stretch>
            <a:fillRect/>
          </a:stretch>
        </p:blipFill>
        <p:spPr>
          <a:xfrm>
            <a:off x="731520" y="1645920"/>
            <a:ext cx="7132320" cy="4636008"/>
          </a:xfrm>
          <a:prstGeom prst="rect">
            <a:avLst/>
          </a:prstGeom>
        </p:spPr>
      </p:pic>
      <p:sp>
        <p:nvSpPr>
          <p:cNvPr id="5" name="TextBox 4"/>
          <p:cNvSpPr txBox="1"/>
          <p:nvPr/>
        </p:nvSpPr>
        <p:spPr>
          <a:xfrm>
            <a:off x="8046720" y="1645920"/>
            <a:ext cx="3474720" cy="4572000"/>
          </a:xfrm>
          <a:prstGeom prst="rect">
            <a:avLst/>
          </a:prstGeom>
          <a:noFill/>
        </p:spPr>
        <p:txBody>
          <a:bodyPr wrap="square">
            <a:spAutoFit/>
          </a:bodyPr>
          <a:lstStyle/>
          <a:p>
            <a:pPr>
              <a:defRPr sz="1400" b="1">
                <a:solidFill>
                  <a:srgbClr val="B8860B"/>
                </a:solidFill>
              </a:defRPr>
            </a:pPr>
            <a:r>
              <a:t>PC1: 37.2% Variance</a:t>
            </a:r>
          </a:p>
          <a:p>
            <a:pPr>
              <a:spcAft>
                <a:spcPts val="1200"/>
              </a:spcAft>
              <a:defRPr sz="1100">
                <a:solidFill>
                  <a:srgbClr val="7F8C8D"/>
                </a:solidFill>
              </a:defRPr>
            </a:pPr>
            <a:r>
              <a:t>Represents the General Distress &amp; Workload Axis (depression, anxiety, academic pressure load heavily positive).</a:t>
            </a:r>
          </a:p>
          <a:p>
            <a:pPr>
              <a:defRPr sz="1400" b="1">
                <a:solidFill>
                  <a:srgbClr val="B8860B"/>
                </a:solidFill>
              </a:defRPr>
            </a:pPr>
            <a:r>
              <a:t>PC2: 14.7% Variance</a:t>
            </a:r>
          </a:p>
          <a:p>
            <a:pPr>
              <a:spcAft>
                <a:spcPts val="1200"/>
              </a:spcAft>
              <a:defRPr sz="1100">
                <a:solidFill>
                  <a:srgbClr val="7F8C8D"/>
                </a:solidFill>
              </a:defRPr>
            </a:pPr>
            <a:r>
              <a:t>Represents the Social Buffering &amp; Coping Axis (quality of social relationships and sleep hygiene load positive).</a:t>
            </a:r>
          </a:p>
          <a:p>
            <a:pPr>
              <a:defRPr sz="1400" b="1">
                <a:solidFill>
                  <a:srgbClr val="B8860B"/>
                </a:solidFill>
              </a:defRPr>
            </a:pPr>
            <a:r>
              <a:t>Sharp Boundaries</a:t>
            </a:r>
          </a:p>
          <a:p>
            <a:pPr>
              <a:spcAft>
                <a:spcPts val="1200"/>
              </a:spcAft>
              <a:defRPr sz="1100">
                <a:solidFill>
                  <a:srgbClr val="7F8C8D"/>
                </a:solidFill>
              </a:defRPr>
            </a:pPr>
            <a:r>
              <a:t>Clean geometric separation confirms clusters represent natural data topologies rather than arbitrary centroid partitions.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Variable Contribution to Cluster Identification</a:t>
            </a:r>
          </a:p>
        </p:txBody>
      </p:sp>
      <p:pic>
        <p:nvPicPr>
          <p:cNvPr id="4" name="Picture 3" descr="09_cluster_feature_importance.png"/>
          <p:cNvPicPr>
            <a:picLocks noChangeAspect="1"/>
          </p:cNvPicPr>
          <p:nvPr/>
        </p:nvPicPr>
        <p:blipFill>
          <a:blip r:embed="rId2"/>
          <a:stretch>
            <a:fillRect/>
          </a:stretch>
        </p:blipFill>
        <p:spPr>
          <a:xfrm>
            <a:off x="731520" y="1645920"/>
            <a:ext cx="7132320" cy="3904007"/>
          </a:xfrm>
          <a:prstGeom prst="rect">
            <a:avLst/>
          </a:prstGeom>
        </p:spPr>
      </p:pic>
      <p:sp>
        <p:nvSpPr>
          <p:cNvPr id="5" name="TextBox 4"/>
          <p:cNvSpPr txBox="1"/>
          <p:nvPr/>
        </p:nvSpPr>
        <p:spPr>
          <a:xfrm>
            <a:off x="8046720" y="1645920"/>
            <a:ext cx="3474720" cy="4572000"/>
          </a:xfrm>
          <a:prstGeom prst="rect">
            <a:avLst/>
          </a:prstGeom>
          <a:noFill/>
        </p:spPr>
        <p:txBody>
          <a:bodyPr wrap="square">
            <a:spAutoFit/>
          </a:bodyPr>
          <a:lstStyle/>
          <a:p>
            <a:pPr>
              <a:defRPr sz="1400" b="1">
                <a:solidFill>
                  <a:srgbClr val="E84393"/>
                </a:solidFill>
              </a:defRPr>
            </a:pPr>
            <a:r>
              <a:t>Supervised Verification</a:t>
            </a:r>
          </a:p>
          <a:p>
            <a:pPr>
              <a:spcAft>
                <a:spcPts val="1000"/>
              </a:spcAft>
              <a:defRPr sz="1100">
                <a:solidFill>
                  <a:srgbClr val="7F8C8D"/>
                </a:solidFill>
              </a:defRPr>
            </a:pPr>
            <a:r>
              <a:t>A 5-fold cross-validated Random Forest achieved 82.7% (+/- 7.4%) accuracy predicting cluster labels from features, confirming sharp separability.</a:t>
            </a:r>
          </a:p>
          <a:p>
            <a:pPr>
              <a:defRPr sz="1400" b="1">
                <a:solidFill>
                  <a:srgbClr val="E84393"/>
                </a:solidFill>
              </a:defRPr>
            </a:pPr>
            <a:r>
              <a:t>Top Discriminator (23.8%)</a:t>
            </a:r>
          </a:p>
          <a:p>
            <a:pPr>
              <a:spcAft>
                <a:spcPts val="1000"/>
              </a:spcAft>
              <a:defRPr sz="1100">
                <a:solidFill>
                  <a:srgbClr val="7F8C8D"/>
                </a:solidFill>
              </a:defRPr>
            </a:pPr>
            <a:r>
              <a:t>Depression severity is the #1 variable driving cluster membership.</a:t>
            </a:r>
          </a:p>
          <a:p>
            <a:pPr>
              <a:defRPr sz="1400" b="1">
                <a:solidFill>
                  <a:srgbClr val="E84393"/>
                </a:solidFill>
              </a:defRPr>
            </a:pPr>
            <a:r>
              <a:t>The Social Buffer (15.8%)</a:t>
            </a:r>
          </a:p>
          <a:p>
            <a:pPr>
              <a:spcAft>
                <a:spcPts val="1000"/>
              </a:spcAft>
              <a:defRPr sz="1100">
                <a:solidFill>
                  <a:srgbClr val="7F8C8D"/>
                </a:solidFill>
              </a:defRPr>
            </a:pPr>
            <a:r>
              <a:t>Quality of social relationships is the #2 overall variable, outranking anxiety (14.4%) and isolation (14.7%).</a:t>
            </a:r>
          </a:p>
          <a:p>
            <a:pPr>
              <a:defRPr sz="1400" b="1">
                <a:solidFill>
                  <a:srgbClr val="E84393"/>
                </a:solidFill>
              </a:defRPr>
            </a:pPr>
            <a:r>
              <a:t>Workload vs Buffer</a:t>
            </a:r>
          </a:p>
          <a:p>
            <a:pPr>
              <a:spcAft>
                <a:spcPts val="1000"/>
              </a:spcAft>
              <a:defRPr sz="1100">
                <a:solidFill>
                  <a:srgbClr val="7F8C8D"/>
                </a:solidFill>
              </a:defRPr>
            </a:pPr>
            <a:r>
              <a:t>Workload (7.2%) creates stress baseline, but Social Support determines clinical outcome.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Profile Trajectories across Core Dimensions</a:t>
            </a:r>
          </a:p>
        </p:txBody>
      </p:sp>
      <p:pic>
        <p:nvPicPr>
          <p:cNvPr id="4" name="Picture 3" descr="07_cluster_profiles_comparison_lineplot.png"/>
          <p:cNvPicPr>
            <a:picLocks noChangeAspect="1"/>
          </p:cNvPicPr>
          <p:nvPr/>
        </p:nvPicPr>
        <p:blipFill>
          <a:blip r:embed="rId2"/>
          <a:stretch>
            <a:fillRect/>
          </a:stretch>
        </p:blipFill>
        <p:spPr>
          <a:xfrm>
            <a:off x="731520" y="1645920"/>
            <a:ext cx="7315200" cy="3657600"/>
          </a:xfrm>
          <a:prstGeom prst="rect">
            <a:avLst/>
          </a:prstGeom>
        </p:spPr>
      </p:pic>
      <p:sp>
        <p:nvSpPr>
          <p:cNvPr id="5" name="TextBox 4"/>
          <p:cNvSpPr txBox="1"/>
          <p:nvPr/>
        </p:nvSpPr>
        <p:spPr>
          <a:xfrm>
            <a:off x="8229600" y="1645920"/>
            <a:ext cx="3291840" cy="4572000"/>
          </a:xfrm>
          <a:prstGeom prst="rect">
            <a:avLst/>
          </a:prstGeom>
          <a:noFill/>
        </p:spPr>
        <p:txBody>
          <a:bodyPr wrap="square">
            <a:spAutoFit/>
          </a:bodyPr>
          <a:lstStyle/>
          <a:p>
            <a:pPr>
              <a:defRPr sz="1400" b="1">
                <a:solidFill>
                  <a:srgbClr val="2C3E50"/>
                </a:solidFill>
              </a:defRPr>
            </a:pPr>
            <a:r>
              <a:t>Profile 1 (Gold)</a:t>
            </a:r>
          </a:p>
          <a:p>
            <a:pPr>
              <a:spcAft>
                <a:spcPts val="1400"/>
              </a:spcAft>
              <a:defRPr sz="1100">
                <a:solidFill>
                  <a:srgbClr val="7F8C8D"/>
                </a:solidFill>
              </a:defRPr>
            </a:pPr>
            <a:r>
              <a:t>Low across all distress metrics (1.8 - 2.2); workload is moderate (3.09).</a:t>
            </a:r>
          </a:p>
          <a:p>
            <a:pPr>
              <a:defRPr sz="1400" b="1">
                <a:solidFill>
                  <a:srgbClr val="2C3E50"/>
                </a:solidFill>
              </a:defRPr>
            </a:pPr>
            <a:r>
              <a:t>Profile 2 (Pink)</a:t>
            </a:r>
          </a:p>
          <a:p>
            <a:pPr>
              <a:spcAft>
                <a:spcPts val="1400"/>
              </a:spcAft>
              <a:defRPr sz="1100">
                <a:solidFill>
                  <a:srgbClr val="7F8C8D"/>
                </a:solidFill>
              </a:defRPr>
            </a:pPr>
            <a:r>
              <a:t>Divergent: Max Workload (4.22) &amp; Pressure (4.17), yet Depression is low (2.61) due to Max Social Support (3.91).</a:t>
            </a:r>
          </a:p>
          <a:p>
            <a:pPr>
              <a:defRPr sz="1400" b="1">
                <a:solidFill>
                  <a:srgbClr val="2C3E50"/>
                </a:solidFill>
              </a:defRPr>
            </a:pPr>
            <a:r>
              <a:t>Profile 3 (Crimson)</a:t>
            </a:r>
          </a:p>
          <a:p>
            <a:pPr>
              <a:spcAft>
                <a:spcPts val="1400"/>
              </a:spcAft>
              <a:defRPr sz="1100">
                <a:solidFill>
                  <a:srgbClr val="7F8C8D"/>
                </a:solidFill>
              </a:defRPr>
            </a:pPr>
            <a:r>
              <a:t>Severe distress across the board (Depression 4.26, Anxiety 4.21, Isolation 4.31).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Deep Dive: The Three Discovered Stress Archetypes</a:t>
            </a:r>
          </a:p>
        </p:txBody>
      </p:sp>
      <p:sp>
        <p:nvSpPr>
          <p:cNvPr id="4" name="Rounded Rectangle 3"/>
          <p:cNvSpPr/>
          <p:nvPr/>
        </p:nvSpPr>
        <p:spPr>
          <a:xfrm>
            <a:off x="731520" y="1645920"/>
            <a:ext cx="3383280" cy="4572000"/>
          </a:xfrm>
          <a:prstGeom prst="roundRect">
            <a:avLst/>
          </a:prstGeom>
          <a:solidFill>
            <a:srgbClr val="F9F3DF"/>
          </a:solidFill>
          <a:ln w="1524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114800"/>
          </a:xfrm>
          <a:prstGeom prst="rect">
            <a:avLst/>
          </a:prstGeom>
          <a:noFill/>
        </p:spPr>
        <p:txBody>
          <a:bodyPr wrap="square">
            <a:spAutoFit/>
          </a:bodyPr>
          <a:lstStyle/>
          <a:p>
            <a:pPr>
              <a:defRPr sz="1400" b="1">
                <a:solidFill>
                  <a:srgbClr val="B8860B"/>
                </a:solidFill>
              </a:defRPr>
            </a:pPr>
            <a:r>
              <a:t>Profile 1: Resilient (25%)</a:t>
            </a:r>
          </a:p>
          <a:p>
            <a:pPr>
              <a:spcAft>
                <a:spcPts val="800"/>
              </a:spcAft>
              <a:defRPr sz="1000" b="1">
                <a:solidFill>
                  <a:srgbClr val="7F8C8D"/>
                </a:solidFill>
              </a:defRPr>
            </a:pPr>
            <a:r>
              <a:t>N = 22 Students</a:t>
            </a:r>
          </a:p>
          <a:p>
            <a:pPr>
              <a:defRPr sz="1050">
                <a:solidFill>
                  <a:srgbClr val="2C3E50"/>
                </a:solidFill>
              </a:defRPr>
            </a:pPr>
            <a:r>
              <a:t>• Depression: 1.86 | Anxiety: 2.05</a:t>
            </a:r>
            <a:br/>
            <a:r>
              <a:t>• Isolation: 2.27 | Insecurity: 2.09</a:t>
            </a:r>
            <a:br/>
            <a:r>
              <a:t>• Workload: 3.09 | Pressure: 2.73</a:t>
            </a:r>
            <a:br/>
            <a:r>
              <a:t>• Sleep: 7-8 hours (Best sleep)</a:t>
            </a:r>
            <a:br/>
            <a:r>
              <a:t>• Coping: Religious Activities (29.2%) &amp; Social Connections (18.8%)</a:t>
            </a:r>
            <a:br/>
            <a:br/>
            <a:r>
              <a:t>Healthy sleep hygiene and balanced workloads keep distress minimal.</a:t>
            </a:r>
          </a:p>
        </p:txBody>
      </p:sp>
      <p:sp>
        <p:nvSpPr>
          <p:cNvPr id="6" name="Rounded Rectangle 5"/>
          <p:cNvSpPr/>
          <p:nvPr/>
        </p:nvSpPr>
        <p:spPr>
          <a:xfrm>
            <a:off x="4389120" y="1645920"/>
            <a:ext cx="3383280" cy="4572000"/>
          </a:xfrm>
          <a:prstGeom prst="roundRect">
            <a:avLst/>
          </a:prstGeom>
          <a:solidFill>
            <a:srgbClr val="FDEEF4"/>
          </a:solidFill>
          <a:ln w="15240">
            <a:solidFill>
              <a:srgbClr val="E843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114800"/>
          </a:xfrm>
          <a:prstGeom prst="rect">
            <a:avLst/>
          </a:prstGeom>
          <a:noFill/>
        </p:spPr>
        <p:txBody>
          <a:bodyPr wrap="square">
            <a:spAutoFit/>
          </a:bodyPr>
          <a:lstStyle/>
          <a:p>
            <a:pPr>
              <a:defRPr sz="1400" b="1">
                <a:solidFill>
                  <a:srgbClr val="E84393"/>
                </a:solidFill>
              </a:defRPr>
            </a:pPr>
            <a:r>
              <a:t>Profile 2: Buffered (26%)</a:t>
            </a:r>
          </a:p>
          <a:p>
            <a:pPr>
              <a:spcAft>
                <a:spcPts val="800"/>
              </a:spcAft>
              <a:defRPr sz="1000" b="1">
                <a:solidFill>
                  <a:srgbClr val="7F8C8D"/>
                </a:solidFill>
              </a:defRPr>
            </a:pPr>
            <a:r>
              <a:t>N = 23 Students</a:t>
            </a:r>
          </a:p>
          <a:p>
            <a:pPr>
              <a:defRPr sz="1050">
                <a:solidFill>
                  <a:srgbClr val="2C3E50"/>
                </a:solidFill>
              </a:defRPr>
            </a:pPr>
            <a:r>
              <a:t>• Depression: 2.61 | Anxiety: 2.52</a:t>
            </a:r>
            <a:br/>
            <a:r>
              <a:t>• Isolation: 2.22 (Low clinical risk)</a:t>
            </a:r>
            <a:br/>
            <a:r>
              <a:t>• Workload: 4.22 (Highest in study!)</a:t>
            </a:r>
            <a:br/>
            <a:r>
              <a:t>• Pressure: 4.17 (Highest!)</a:t>
            </a:r>
            <a:br/>
            <a:r>
              <a:t>• Social Relationships: 3.91 (Highest!)</a:t>
            </a:r>
            <a:br/>
            <a:r>
              <a:t>• Study Satisfaction: 4.35 (Highest!)</a:t>
            </a:r>
            <a:br/>
            <a:br/>
            <a:r>
              <a:t>Workload alone does not cause depression; peer support actively shields them.</a:t>
            </a:r>
          </a:p>
        </p:txBody>
      </p:sp>
      <p:sp>
        <p:nvSpPr>
          <p:cNvPr id="8" name="Rounded Rectangle 7"/>
          <p:cNvSpPr/>
          <p:nvPr/>
        </p:nvSpPr>
        <p:spPr>
          <a:xfrm>
            <a:off x="8046720" y="1645920"/>
            <a:ext cx="3383280" cy="4572000"/>
          </a:xfrm>
          <a:prstGeom prst="roundRect">
            <a:avLst/>
          </a:prstGeom>
          <a:solidFill>
            <a:srgbClr val="FDEEF4"/>
          </a:solidFill>
          <a:ln w="15240">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114800"/>
          </a:xfrm>
          <a:prstGeom prst="rect">
            <a:avLst/>
          </a:prstGeom>
          <a:noFill/>
        </p:spPr>
        <p:txBody>
          <a:bodyPr wrap="square">
            <a:spAutoFit/>
          </a:bodyPr>
          <a:lstStyle/>
          <a:p>
            <a:pPr>
              <a:defRPr sz="1400" b="1">
                <a:solidFill>
                  <a:srgbClr val="C2185B"/>
                </a:solidFill>
              </a:defRPr>
            </a:pPr>
            <a:r>
              <a:t>Profile 3: Severe Distress (48%)</a:t>
            </a:r>
          </a:p>
          <a:p>
            <a:pPr>
              <a:spcAft>
                <a:spcPts val="800"/>
              </a:spcAft>
              <a:defRPr sz="1000" b="1">
                <a:solidFill>
                  <a:srgbClr val="7F8C8D"/>
                </a:solidFill>
              </a:defRPr>
            </a:pPr>
            <a:r>
              <a:t>N = 42 Students</a:t>
            </a:r>
          </a:p>
          <a:p>
            <a:pPr>
              <a:defRPr sz="1050">
                <a:solidFill>
                  <a:srgbClr val="2C3E50"/>
                </a:solidFill>
              </a:defRPr>
            </a:pPr>
            <a:r>
              <a:t>• Depression: 4.26 | Anxiety: 4.21</a:t>
            </a:r>
            <a:br/>
            <a:r>
              <a:t>• Isolation: 4.31 | Insecurity: 3.74</a:t>
            </a:r>
            <a:br/>
            <a:r>
              <a:t>• Sleep: 4-6 hours (Chronic deficit)</a:t>
            </a:r>
            <a:br/>
            <a:r>
              <a:t>• Social Relationships: 2.14 (Broken)</a:t>
            </a:r>
            <a:br/>
            <a:r>
              <a:t>• Coping: Online Entertainment (21.8%) &amp; Escapist Sleep (14.1%)</a:t>
            </a:r>
            <a:br/>
            <a:br/>
            <a:r>
              <a:t>Nearly half the cohort is in compounding clinical distress with no social buffer.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Gender Disparity Analysis: The Distress Gap</a:t>
            </a:r>
          </a:p>
        </p:txBody>
      </p:sp>
      <p:pic>
        <p:nvPicPr>
          <p:cNvPr id="4" name="Picture 3" descr="05_gender_profile_disparity.png"/>
          <p:cNvPicPr>
            <a:picLocks noChangeAspect="1"/>
          </p:cNvPicPr>
          <p:nvPr/>
        </p:nvPicPr>
        <p:blipFill>
          <a:blip r:embed="rId2"/>
          <a:stretch>
            <a:fillRect/>
          </a:stretch>
        </p:blipFill>
        <p:spPr>
          <a:xfrm>
            <a:off x="731520" y="1645920"/>
            <a:ext cx="6583680" cy="4023360"/>
          </a:xfrm>
          <a:prstGeom prst="rect">
            <a:avLst/>
          </a:prstGeom>
        </p:spPr>
      </p:pic>
      <p:sp>
        <p:nvSpPr>
          <p:cNvPr id="5" name="TextBox 4"/>
          <p:cNvSpPr txBox="1"/>
          <p:nvPr/>
        </p:nvSpPr>
        <p:spPr>
          <a:xfrm>
            <a:off x="7498079" y="1645920"/>
            <a:ext cx="4023360" cy="4572000"/>
          </a:xfrm>
          <a:prstGeom prst="rect">
            <a:avLst/>
          </a:prstGeom>
          <a:noFill/>
        </p:spPr>
        <p:txBody>
          <a:bodyPr wrap="square">
            <a:spAutoFit/>
          </a:bodyPr>
          <a:lstStyle/>
          <a:p>
            <a:pPr>
              <a:defRPr sz="1300" b="1">
                <a:solidFill>
                  <a:srgbClr val="C2185B"/>
                </a:solidFill>
              </a:defRPr>
            </a:pPr>
            <a:r>
              <a:t>62.5% of Females in Severe Distress</a:t>
            </a:r>
          </a:p>
          <a:p>
            <a:pPr>
              <a:spcAft>
                <a:spcPts val="800"/>
              </a:spcAft>
              <a:defRPr sz="1050">
                <a:solidFill>
                  <a:srgbClr val="7F8C8D"/>
                </a:solidFill>
              </a:defRPr>
            </a:pPr>
            <a:r>
              <a:t>Over 62% of female students fall into Profile 3, compared to 42.9% of males—a 20% vulnerability gap.</a:t>
            </a:r>
          </a:p>
          <a:p>
            <a:pPr>
              <a:defRPr sz="1300" b="1">
                <a:solidFill>
                  <a:srgbClr val="B8860B"/>
                </a:solidFill>
              </a:defRPr>
            </a:pPr>
            <a:r>
              <a:t>The Buffer Disparity</a:t>
            </a:r>
          </a:p>
          <a:p>
            <a:pPr>
              <a:spcAft>
                <a:spcPts val="800"/>
              </a:spcAft>
              <a:defRPr sz="1050">
                <a:solidFill>
                  <a:srgbClr val="7F8C8D"/>
                </a:solidFill>
              </a:defRPr>
            </a:pPr>
            <a:r>
              <a:t>Only 12.5% of females benefit from the Socially Buffered profile (Profile 2), compared to 31.7% of males.</a:t>
            </a:r>
          </a:p>
          <a:p>
            <a:pPr>
              <a:defRPr sz="1300" b="1">
                <a:solidFill>
                  <a:srgbClr val="2C3E50"/>
                </a:solidFill>
              </a:defRPr>
            </a:pPr>
            <a:r>
              <a:t>Different Symptom Vectors</a:t>
            </a:r>
          </a:p>
          <a:p>
            <a:pPr>
              <a:spcAft>
                <a:spcPts val="800"/>
              </a:spcAft>
              <a:defRPr sz="1050">
                <a:solidFill>
                  <a:srgbClr val="7F8C8D"/>
                </a:solidFill>
              </a:defRPr>
            </a:pPr>
            <a:r>
              <a:t>• Females: Workload + High GPA (3.0-3.5) drives acute performance Anxiety (100% confidence in Apriori rules).</a:t>
            </a:r>
            <a:br/>
            <a:r>
              <a:t>• Males: Future insecurity drives Depression (Lift = 1.83, highest in study).</a:t>
            </a:r>
          </a:p>
          <a:p>
            <a:pPr>
              <a:defRPr sz="1300" b="1">
                <a:solidFill>
                  <a:srgbClr val="7F8C8D"/>
                </a:solidFill>
              </a:defRPr>
            </a:pPr>
            <a:r>
              <a:t>Statistical Note</a:t>
            </a:r>
          </a:p>
          <a:p>
            <a:pPr>
              <a:spcAft>
                <a:spcPts val="800"/>
              </a:spcAft>
              <a:defRPr sz="1050">
                <a:solidFill>
                  <a:srgbClr val="7F8C8D"/>
                </a:solidFill>
              </a:defRPr>
            </a:pPr>
            <a:r>
              <a:t>Female sample is N=24; patterns are documented as exploratory benchmarks.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Key Findings Tied Back to Objectives</a:t>
            </a:r>
          </a:p>
        </p:txBody>
      </p:sp>
      <p:sp>
        <p:nvSpPr>
          <p:cNvPr id="4" name="Rounded Rectangle 3"/>
          <p:cNvSpPr/>
          <p:nvPr/>
        </p:nvSpPr>
        <p:spPr>
          <a:xfrm>
            <a:off x="731520" y="1645920"/>
            <a:ext cx="10698480" cy="128016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914400"/>
          </a:xfrm>
          <a:prstGeom prst="rect">
            <a:avLst/>
          </a:prstGeom>
          <a:noFill/>
        </p:spPr>
        <p:txBody>
          <a:bodyPr wrap="square">
            <a:spAutoFit/>
          </a:bodyPr>
          <a:lstStyle/>
          <a:p>
            <a:pPr>
              <a:spcAft>
                <a:spcPts val="400"/>
              </a:spcAft>
              <a:defRPr sz="1500" b="1">
                <a:solidFill>
                  <a:srgbClr val="B8860B"/>
                </a:solidFill>
              </a:defRPr>
            </a:pPr>
            <a:r>
              <a:t>1. Three Distinct Profiles</a:t>
            </a:r>
          </a:p>
          <a:p>
            <a:pPr>
              <a:defRPr sz="1200">
                <a:solidFill>
                  <a:srgbClr val="2C3E50"/>
                </a:solidFill>
              </a:defRPr>
            </a:pPr>
            <a:r>
              <a:t>Unsupervised learning confirms students are not homogeneous: 25% are Resilient, 26% are Socially Buffered under high pressure, and 48% are in Severe Distress with compounding symptoms.</a:t>
            </a:r>
          </a:p>
        </p:txBody>
      </p:sp>
      <p:sp>
        <p:nvSpPr>
          <p:cNvPr id="6" name="Rounded Rectangle 5"/>
          <p:cNvSpPr/>
          <p:nvPr/>
        </p:nvSpPr>
        <p:spPr>
          <a:xfrm>
            <a:off x="731520" y="3200400"/>
            <a:ext cx="10698480" cy="128016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383280"/>
            <a:ext cx="10149840" cy="914400"/>
          </a:xfrm>
          <a:prstGeom prst="rect">
            <a:avLst/>
          </a:prstGeom>
          <a:noFill/>
        </p:spPr>
        <p:txBody>
          <a:bodyPr wrap="square">
            <a:spAutoFit/>
          </a:bodyPr>
          <a:lstStyle/>
          <a:p>
            <a:pPr>
              <a:spcAft>
                <a:spcPts val="400"/>
              </a:spcAft>
              <a:defRPr sz="1500" b="1">
                <a:solidFill>
                  <a:srgbClr val="E84393"/>
                </a:solidFill>
              </a:defRPr>
            </a:pPr>
            <a:r>
              <a:t>2. Social Buffers Overcome Workload</a:t>
            </a:r>
          </a:p>
          <a:p>
            <a:pPr>
              <a:defRPr sz="1200">
                <a:solidFill>
                  <a:srgbClr val="2C3E50"/>
                </a:solidFill>
              </a:defRPr>
            </a:pPr>
            <a:r>
              <a:t>Perceived workload is high across all STEM students, but high-quality social relationships (r = -0.56 with isolation) and study satisfaction (4.35) prevent heavy workloads from triggering depression.</a:t>
            </a:r>
          </a:p>
        </p:txBody>
      </p:sp>
      <p:sp>
        <p:nvSpPr>
          <p:cNvPr id="8" name="Rounded Rectangle 7"/>
          <p:cNvSpPr/>
          <p:nvPr/>
        </p:nvSpPr>
        <p:spPr>
          <a:xfrm>
            <a:off x="731520" y="4754880"/>
            <a:ext cx="10698480" cy="128016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937760"/>
            <a:ext cx="10149840" cy="914400"/>
          </a:xfrm>
          <a:prstGeom prst="rect">
            <a:avLst/>
          </a:prstGeom>
          <a:noFill/>
        </p:spPr>
        <p:txBody>
          <a:bodyPr wrap="square">
            <a:spAutoFit/>
          </a:bodyPr>
          <a:lstStyle/>
          <a:p>
            <a:pPr>
              <a:spcAft>
                <a:spcPts val="400"/>
              </a:spcAft>
              <a:defRPr sz="1500" b="1">
                <a:solidFill>
                  <a:srgbClr val="B8860B"/>
                </a:solidFill>
              </a:defRPr>
            </a:pPr>
            <a:r>
              <a:t>3. Significant Gender Divergence</a:t>
            </a:r>
          </a:p>
          <a:p>
            <a:pPr>
              <a:defRPr sz="1200">
                <a:solidFill>
                  <a:srgbClr val="2C3E50"/>
                </a:solidFill>
              </a:defRPr>
            </a:pPr>
            <a:r>
              <a:t>Females face higher severe distress rates (62.5%) tied to academic workload anxiety, whereas males experience career-focused future insecurity as their primary depression catalyst.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Project Limitations &amp; Scientific Considerations</a:t>
            </a:r>
          </a:p>
        </p:txBody>
      </p:sp>
      <p:sp>
        <p:nvSpPr>
          <p:cNvPr id="4" name="Rounded Rectangle 3"/>
          <p:cNvSpPr/>
          <p:nvPr/>
        </p:nvSpPr>
        <p:spPr>
          <a:xfrm>
            <a:off x="731520" y="1645920"/>
            <a:ext cx="3383280" cy="4572000"/>
          </a:xfrm>
          <a:prstGeom prst="roundRect">
            <a:avLst/>
          </a:prstGeom>
          <a:solidFill>
            <a:srgbClr val="F9F3DF"/>
          </a:solidFill>
          <a:ln w="1524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2926080" cy="3840480"/>
          </a:xfrm>
          <a:prstGeom prst="rect">
            <a:avLst/>
          </a:prstGeom>
          <a:noFill/>
        </p:spPr>
        <p:txBody>
          <a:bodyPr wrap="square">
            <a:spAutoFit/>
          </a:bodyPr>
          <a:lstStyle/>
          <a:p>
            <a:pPr>
              <a:spcAft>
                <a:spcPts val="1400"/>
              </a:spcAft>
              <a:defRPr sz="1600" b="1">
                <a:solidFill>
                  <a:srgbClr val="B8860B"/>
                </a:solidFill>
              </a:defRPr>
            </a:pPr>
            <a:r>
              <a:t>Sample Size (N=87)</a:t>
            </a:r>
          </a:p>
          <a:p>
            <a:pPr>
              <a:defRPr sz="1200">
                <a:solidFill>
                  <a:srgbClr val="7F8C8D"/>
                </a:solidFill>
              </a:defRPr>
            </a:pPr>
            <a:r>
              <a:t>Subgroup sizes (24 females, 2 postgraduates) mean conclusions must be framed as exploratory benchmarks rather than population-level generalizations.</a:t>
            </a:r>
          </a:p>
        </p:txBody>
      </p:sp>
      <p:sp>
        <p:nvSpPr>
          <p:cNvPr id="6" name="Rounded Rectangle 5"/>
          <p:cNvSpPr/>
          <p:nvPr/>
        </p:nvSpPr>
        <p:spPr>
          <a:xfrm>
            <a:off x="4389120" y="1645920"/>
            <a:ext cx="3383280" cy="4572000"/>
          </a:xfrm>
          <a:prstGeom prst="roundRect">
            <a:avLst/>
          </a:prstGeom>
          <a:solidFill>
            <a:srgbClr val="FDEEF4"/>
          </a:solidFill>
          <a:ln w="15240">
            <a:solidFill>
              <a:srgbClr val="E843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920240"/>
            <a:ext cx="2926080" cy="3840480"/>
          </a:xfrm>
          <a:prstGeom prst="rect">
            <a:avLst/>
          </a:prstGeom>
          <a:noFill/>
        </p:spPr>
        <p:txBody>
          <a:bodyPr wrap="square">
            <a:spAutoFit/>
          </a:bodyPr>
          <a:lstStyle/>
          <a:p>
            <a:pPr>
              <a:spcAft>
                <a:spcPts val="1400"/>
              </a:spcAft>
              <a:defRPr sz="1600" b="1">
                <a:solidFill>
                  <a:srgbClr val="E84393"/>
                </a:solidFill>
              </a:defRPr>
            </a:pPr>
            <a:r>
              <a:t>Association vs. Causation</a:t>
            </a:r>
          </a:p>
          <a:p>
            <a:pPr>
              <a:defRPr sz="1200">
                <a:solidFill>
                  <a:srgbClr val="7F8C8D"/>
                </a:solidFill>
              </a:defRPr>
            </a:pPr>
            <a:r>
              <a:t>Clustering and correlation identify co-occurrence patterns. We cannot clinically claim sleep deprivation causes depression due to bidirectional feedback loops.</a:t>
            </a:r>
          </a:p>
        </p:txBody>
      </p:sp>
      <p:sp>
        <p:nvSpPr>
          <p:cNvPr id="8" name="Rounded Rectangle 7"/>
          <p:cNvSpPr/>
          <p:nvPr/>
        </p:nvSpPr>
        <p:spPr>
          <a:xfrm>
            <a:off x="8046720" y="1645920"/>
            <a:ext cx="3383280" cy="4572000"/>
          </a:xfrm>
          <a:prstGeom prst="roundRect">
            <a:avLst/>
          </a:prstGeom>
          <a:solidFill>
            <a:srgbClr val="F9F3DF"/>
          </a:solidFill>
          <a:ln w="15240">
            <a:solidFill>
              <a:srgbClr val="2C3E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920240"/>
            <a:ext cx="2926080" cy="3840480"/>
          </a:xfrm>
          <a:prstGeom prst="rect">
            <a:avLst/>
          </a:prstGeom>
          <a:noFill/>
        </p:spPr>
        <p:txBody>
          <a:bodyPr wrap="square">
            <a:spAutoFit/>
          </a:bodyPr>
          <a:lstStyle/>
          <a:p>
            <a:pPr>
              <a:spcAft>
                <a:spcPts val="1400"/>
              </a:spcAft>
              <a:defRPr sz="1600" b="1">
                <a:solidFill>
                  <a:srgbClr val="2C3E50"/>
                </a:solidFill>
              </a:defRPr>
            </a:pPr>
            <a:r>
              <a:t>Institutional Scope</a:t>
            </a:r>
          </a:p>
          <a:p>
            <a:pPr>
              <a:defRPr sz="1200">
                <a:solidFill>
                  <a:srgbClr val="7F8C8D"/>
                </a:solidFill>
              </a:defRPr>
            </a:pPr>
            <a:r>
              <a:t>The dataset is localized to university STEM programs in Pakistan; regional socio-cultural expectations around career success may heighten future insecurity.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Actionable Recommendations &amp; Future Work</a:t>
            </a:r>
          </a:p>
        </p:txBody>
      </p:sp>
      <p:sp>
        <p:nvSpPr>
          <p:cNvPr id="4" name="Rounded Rectangle 3"/>
          <p:cNvSpPr/>
          <p:nvPr/>
        </p:nvSpPr>
        <p:spPr>
          <a:xfrm>
            <a:off x="731520" y="1645920"/>
            <a:ext cx="52120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663440" cy="4023360"/>
          </a:xfrm>
          <a:prstGeom prst="rect">
            <a:avLst/>
          </a:prstGeom>
          <a:noFill/>
        </p:spPr>
        <p:txBody>
          <a:bodyPr wrap="square">
            <a:spAutoFit/>
          </a:bodyPr>
          <a:lstStyle/>
          <a:p>
            <a:pPr>
              <a:spcAft>
                <a:spcPts val="1200"/>
              </a:spcAft>
              <a:defRPr sz="1200" b="1">
                <a:solidFill>
                  <a:srgbClr val="B8860B"/>
                </a:solidFill>
              </a:defRPr>
            </a:pPr>
            <a:r>
              <a:t>APPLIED UNIVERSITY INTERVENTIONS</a:t>
            </a:r>
          </a:p>
          <a:p>
            <a:pPr>
              <a:defRPr sz="1300" b="1">
                <a:solidFill>
                  <a:srgbClr val="2C3E50"/>
                </a:solidFill>
              </a:defRPr>
            </a:pPr>
            <a:r>
              <a:t>• Replicate Profile 2 Social Buffers</a:t>
            </a:r>
          </a:p>
          <a:p>
            <a:pPr>
              <a:spcAft>
                <a:spcPts val="800"/>
              </a:spcAft>
              <a:defRPr sz="1100">
                <a:solidFill>
                  <a:srgbClr val="7F8C8D"/>
                </a:solidFill>
              </a:defRPr>
            </a:pPr>
            <a:r>
              <a:t>Establish cohort-based peer study groups to build the protective social relationships that shield against heavy workloads.</a:t>
            </a:r>
          </a:p>
          <a:p>
            <a:pPr>
              <a:defRPr sz="1300" b="1">
                <a:solidFill>
                  <a:srgbClr val="2C3E50"/>
                </a:solidFill>
              </a:defRPr>
            </a:pPr>
            <a:r>
              <a:t>• Early Career Counseling</a:t>
            </a:r>
          </a:p>
          <a:p>
            <a:pPr>
              <a:spcAft>
                <a:spcPts val="800"/>
              </a:spcAft>
              <a:defRPr sz="1100">
                <a:solidFill>
                  <a:srgbClr val="7F8C8D"/>
                </a:solidFill>
              </a:defRPr>
            </a:pPr>
            <a:r>
              <a:t>Target future insecurity directly during the 2nd and 3rd year to relieve the primary driver of student depression.</a:t>
            </a:r>
          </a:p>
          <a:p>
            <a:pPr>
              <a:defRPr sz="1300" b="1">
                <a:solidFill>
                  <a:srgbClr val="2C3E50"/>
                </a:solidFill>
              </a:defRPr>
            </a:pPr>
            <a:r>
              <a:t>• Sleep Hygiene Workshops</a:t>
            </a:r>
          </a:p>
          <a:p>
            <a:pPr>
              <a:spcAft>
                <a:spcPts val="800"/>
              </a:spcAft>
              <a:defRPr sz="1100">
                <a:solidFill>
                  <a:srgbClr val="7F8C8D"/>
                </a:solidFill>
              </a:defRPr>
            </a:pPr>
            <a:r>
              <a:t>Focus institutional wellness on sleep hygiene rather than generic meditation seminars, as sleep directly discriminates Profile 1 from Profile 3.</a:t>
            </a:r>
          </a:p>
        </p:txBody>
      </p:sp>
      <p:sp>
        <p:nvSpPr>
          <p:cNvPr id="6" name="Rounded Rectangle 5"/>
          <p:cNvSpPr/>
          <p:nvPr/>
        </p:nvSpPr>
        <p:spPr>
          <a:xfrm>
            <a:off x="6217920" y="1645920"/>
            <a:ext cx="52120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920240"/>
            <a:ext cx="4663440" cy="4023360"/>
          </a:xfrm>
          <a:prstGeom prst="rect">
            <a:avLst/>
          </a:prstGeom>
          <a:noFill/>
        </p:spPr>
        <p:txBody>
          <a:bodyPr wrap="square">
            <a:spAutoFit/>
          </a:bodyPr>
          <a:lstStyle/>
          <a:p>
            <a:pPr>
              <a:spcAft>
                <a:spcPts val="1200"/>
              </a:spcAft>
              <a:defRPr sz="1200" b="1">
                <a:solidFill>
                  <a:srgbClr val="E84393"/>
                </a:solidFill>
              </a:defRPr>
            </a:pPr>
            <a:r>
              <a:t>TECHNICAL NEXT STEPS</a:t>
            </a:r>
          </a:p>
          <a:p>
            <a:pPr>
              <a:defRPr sz="1300" b="1">
                <a:solidFill>
                  <a:srgbClr val="2C3E50"/>
                </a:solidFill>
              </a:defRPr>
            </a:pPr>
            <a:r>
              <a:t>• Longitudinal Modeling</a:t>
            </a:r>
          </a:p>
          <a:p>
            <a:pPr>
              <a:spcAft>
                <a:spcPts val="800"/>
              </a:spcAft>
              <a:defRPr sz="1100">
                <a:solidFill>
                  <a:srgbClr val="7F8C8D"/>
                </a:solidFill>
              </a:defRPr>
            </a:pPr>
            <a:r>
              <a:t>Track cohorts semester-over-semester to model Markov transition states between Buffered and Distressed profiles.</a:t>
            </a:r>
          </a:p>
          <a:p>
            <a:pPr>
              <a:defRPr sz="1300" b="1">
                <a:solidFill>
                  <a:srgbClr val="2C3E50"/>
                </a:solidFill>
              </a:defRPr>
            </a:pPr>
            <a:r>
              <a:t>• Standardized Clinical Scales</a:t>
            </a:r>
          </a:p>
          <a:p>
            <a:pPr>
              <a:spcAft>
                <a:spcPts val="800"/>
              </a:spcAft>
              <a:defRPr sz="1100">
                <a:solidFill>
                  <a:srgbClr val="7F8C8D"/>
                </a:solidFill>
              </a:defRPr>
            </a:pPr>
            <a:r>
              <a:t>Incorporate validated clinical psychometric batteries (PHQ-9 for depression, GAD-7 for anxiety) to deepen diagnostic precision.</a:t>
            </a:r>
          </a:p>
          <a:p>
            <a:pPr>
              <a:defRPr sz="1300" b="1">
                <a:solidFill>
                  <a:srgbClr val="2C3E50"/>
                </a:solidFill>
              </a:defRPr>
            </a:pPr>
            <a:r>
              <a:t>• Oversampling Female STEM Students</a:t>
            </a:r>
          </a:p>
          <a:p>
            <a:pPr>
              <a:spcAft>
                <a:spcPts val="800"/>
              </a:spcAft>
              <a:defRPr sz="1100">
                <a:solidFill>
                  <a:srgbClr val="7F8C8D"/>
                </a:solidFill>
              </a:defRPr>
            </a:pPr>
            <a:r>
              <a:t>Recruit balanced gender cohorts to validate whether the 62.5% severe distress rate replicates at larger scales.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914400"/>
          </a:xfrm>
          <a:prstGeom prst="rect">
            <a:avLst/>
          </a:prstGeom>
          <a:noFill/>
        </p:spPr>
        <p:txBody>
          <a:bodyPr wrap="none">
            <a:spAutoFit/>
          </a:bodyPr>
          <a:lstStyle/>
          <a:p>
            <a:pPr>
              <a:defRPr sz="1100" b="1">
                <a:solidFill>
                  <a:srgbClr val="D4AF37"/>
                </a:solidFill>
              </a:defRPr>
            </a:pPr>
            <a:r>
              <a:t>DATA 4380 · DATA PROBLEMS</a:t>
            </a:r>
          </a:p>
          <a:p>
            <a:pPr>
              <a:defRPr sz="2400" b="1">
                <a:solidFill>
                  <a:srgbClr val="F8F9FA"/>
                </a:solidFill>
              </a:defRPr>
            </a:pPr>
            <a:r>
              <a:t>Effort &amp; Work Completed (Solo Project Execution)</a:t>
            </a:r>
          </a:p>
        </p:txBody>
      </p:sp>
      <p:sp>
        <p:nvSpPr>
          <p:cNvPr id="4" name="Rounded Rectangle 3"/>
          <p:cNvSpPr/>
          <p:nvPr/>
        </p:nvSpPr>
        <p:spPr>
          <a:xfrm>
            <a:off x="731520" y="1737360"/>
            <a:ext cx="2514600" cy="1463040"/>
          </a:xfrm>
          <a:prstGeom prst="roundRect">
            <a:avLst/>
          </a:prstGeom>
          <a:solidFill>
            <a:srgbClr val="242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2514600" cy="1097280"/>
          </a:xfrm>
          <a:prstGeom prst="rect">
            <a:avLst/>
          </a:prstGeom>
          <a:noFill/>
        </p:spPr>
        <p:txBody>
          <a:bodyPr wrap="none">
            <a:spAutoFit/>
          </a:bodyPr>
          <a:lstStyle/>
          <a:p>
            <a:pPr algn="ctr">
              <a:defRPr sz="4000" b="1">
                <a:solidFill>
                  <a:srgbClr val="D4AF37"/>
                </a:solidFill>
              </a:defRPr>
            </a:pPr>
            <a:r>
              <a:t>87</a:t>
            </a:r>
          </a:p>
          <a:p>
            <a:pPr algn="ctr">
              <a:defRPr sz="1000" b="1">
                <a:solidFill>
                  <a:srgbClr val="F8F9FA"/>
                </a:solidFill>
              </a:defRPr>
            </a:pPr>
            <a:r>
              <a:t>ROWS PROCESSED &amp; CLEANED</a:t>
            </a:r>
          </a:p>
        </p:txBody>
      </p:sp>
      <p:sp>
        <p:nvSpPr>
          <p:cNvPr id="6" name="Rounded Rectangle 5"/>
          <p:cNvSpPr/>
          <p:nvPr/>
        </p:nvSpPr>
        <p:spPr>
          <a:xfrm>
            <a:off x="3474720" y="1737360"/>
            <a:ext cx="2514600" cy="1463040"/>
          </a:xfrm>
          <a:prstGeom prst="roundRect">
            <a:avLst/>
          </a:prstGeom>
          <a:solidFill>
            <a:srgbClr val="242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0" y="1920240"/>
            <a:ext cx="2514600" cy="1097280"/>
          </a:xfrm>
          <a:prstGeom prst="rect">
            <a:avLst/>
          </a:prstGeom>
          <a:noFill/>
        </p:spPr>
        <p:txBody>
          <a:bodyPr wrap="none">
            <a:spAutoFit/>
          </a:bodyPr>
          <a:lstStyle/>
          <a:p>
            <a:pPr algn="ctr">
              <a:defRPr sz="4000" b="1">
                <a:solidFill>
                  <a:srgbClr val="E84393"/>
                </a:solidFill>
              </a:defRPr>
            </a:pPr>
            <a:r>
              <a:t>38</a:t>
            </a:r>
          </a:p>
          <a:p>
            <a:pPr algn="ctr">
              <a:defRPr sz="1000" b="1">
                <a:solidFill>
                  <a:srgbClr val="F8F9FA"/>
                </a:solidFill>
              </a:defRPr>
            </a:pPr>
            <a:r>
              <a:t>ENGINEERED FEATURES</a:t>
            </a:r>
          </a:p>
        </p:txBody>
      </p:sp>
      <p:sp>
        <p:nvSpPr>
          <p:cNvPr id="8" name="Rounded Rectangle 7"/>
          <p:cNvSpPr/>
          <p:nvPr/>
        </p:nvSpPr>
        <p:spPr>
          <a:xfrm>
            <a:off x="6217920" y="1737360"/>
            <a:ext cx="2514600" cy="1463040"/>
          </a:xfrm>
          <a:prstGeom prst="roundRect">
            <a:avLst/>
          </a:prstGeom>
          <a:solidFill>
            <a:srgbClr val="242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920240"/>
            <a:ext cx="2514600" cy="1097280"/>
          </a:xfrm>
          <a:prstGeom prst="rect">
            <a:avLst/>
          </a:prstGeom>
          <a:noFill/>
        </p:spPr>
        <p:txBody>
          <a:bodyPr wrap="none">
            <a:spAutoFit/>
          </a:bodyPr>
          <a:lstStyle/>
          <a:p>
            <a:pPr algn="ctr">
              <a:defRPr sz="4000" b="1">
                <a:solidFill>
                  <a:srgbClr val="B8860B"/>
                </a:solidFill>
              </a:defRPr>
            </a:pPr>
            <a:r>
              <a:t>12</a:t>
            </a:r>
          </a:p>
          <a:p>
            <a:pPr algn="ctr">
              <a:defRPr sz="1000" b="1">
                <a:solidFill>
                  <a:srgbClr val="F8F9FA"/>
                </a:solidFill>
              </a:defRPr>
            </a:pPr>
            <a:r>
              <a:t>MODEL BENCHMARKS EVALUATED</a:t>
            </a:r>
          </a:p>
        </p:txBody>
      </p:sp>
      <p:sp>
        <p:nvSpPr>
          <p:cNvPr id="10" name="Rounded Rectangle 9"/>
          <p:cNvSpPr/>
          <p:nvPr/>
        </p:nvSpPr>
        <p:spPr>
          <a:xfrm>
            <a:off x="8961120" y="1737360"/>
            <a:ext cx="2514600" cy="1463040"/>
          </a:xfrm>
          <a:prstGeom prst="roundRect">
            <a:avLst/>
          </a:prstGeom>
          <a:solidFill>
            <a:srgbClr val="242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920240"/>
            <a:ext cx="2514600" cy="1097280"/>
          </a:xfrm>
          <a:prstGeom prst="rect">
            <a:avLst/>
          </a:prstGeom>
          <a:noFill/>
        </p:spPr>
        <p:txBody>
          <a:bodyPr wrap="none">
            <a:spAutoFit/>
          </a:bodyPr>
          <a:lstStyle/>
          <a:p>
            <a:pPr algn="ctr">
              <a:defRPr sz="4000" b="1">
                <a:solidFill>
                  <a:srgbClr val="F8A5C2"/>
                </a:solidFill>
              </a:defRPr>
            </a:pPr>
            <a:r>
              <a:t>9</a:t>
            </a:r>
          </a:p>
          <a:p>
            <a:pPr algn="ctr">
              <a:defRPr sz="1000" b="1">
                <a:solidFill>
                  <a:srgbClr val="F8F9FA"/>
                </a:solidFill>
              </a:defRPr>
            </a:pPr>
            <a:r>
              <a:t>CUSTOM 300-DPI VISUALIZATIONS</a:t>
            </a:r>
          </a:p>
        </p:txBody>
      </p:sp>
      <p:sp>
        <p:nvSpPr>
          <p:cNvPr id="12" name="Rounded Rectangle 11"/>
          <p:cNvSpPr/>
          <p:nvPr/>
        </p:nvSpPr>
        <p:spPr>
          <a:xfrm>
            <a:off x="731520" y="3566160"/>
            <a:ext cx="10698480" cy="1371600"/>
          </a:xfrm>
          <a:prstGeom prst="roundRect">
            <a:avLst/>
          </a:prstGeom>
          <a:solidFill>
            <a:srgbClr val="242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749039"/>
            <a:ext cx="10149840" cy="1005840"/>
          </a:xfrm>
          <a:prstGeom prst="rect">
            <a:avLst/>
          </a:prstGeom>
          <a:noFill/>
        </p:spPr>
        <p:txBody>
          <a:bodyPr wrap="square">
            <a:spAutoFit/>
          </a:bodyPr>
          <a:lstStyle/>
          <a:p>
            <a:pPr>
              <a:spcAft>
                <a:spcPts val="400"/>
              </a:spcAft>
              <a:defRPr sz="1100" b="1">
                <a:solidFill>
                  <a:srgbClr val="D4AF37"/>
                </a:solidFill>
              </a:defRPr>
            </a:pPr>
            <a:r>
              <a:t>STANDALONE SOLO EXECUTION</a:t>
            </a:r>
          </a:p>
          <a:p>
            <a:pPr>
              <a:defRPr sz="1100">
                <a:solidFill>
                  <a:srgbClr val="F8F9FA"/>
                </a:solidFill>
              </a:defRPr>
            </a:pPr>
            <a:r>
              <a:t>Executed independently by Zuhair Hussain with AI pair-programming support from Google Gemini for rapid code prototyping, script automation, visualization styling, and LaTeX formatting. All analytical methodologies, data validation, and clinical interpretations verified and reproducible in the accompanying Jupyter notebook.</a:t>
            </a:r>
          </a:p>
        </p:txBody>
      </p:sp>
      <p:sp>
        <p:nvSpPr>
          <p:cNvPr id="14" name="TextBox 13"/>
          <p:cNvSpPr txBox="1"/>
          <p:nvPr/>
        </p:nvSpPr>
        <p:spPr>
          <a:xfrm>
            <a:off x="731520" y="5303520"/>
            <a:ext cx="10698480" cy="914400"/>
          </a:xfrm>
          <a:prstGeom prst="rect">
            <a:avLst/>
          </a:prstGeom>
          <a:noFill/>
        </p:spPr>
        <p:txBody>
          <a:bodyPr wrap="none">
            <a:spAutoFit/>
          </a:bodyPr>
          <a:lstStyle/>
          <a:p>
            <a:pPr algn="ctr">
              <a:defRPr sz="2600" b="1">
                <a:solidFill>
                  <a:srgbClr val="D4AF37"/>
                </a:solidFill>
              </a:defRPr>
            </a:pPr>
            <a:r>
              <a:t>Thank you Dr. Rostami. Questions?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spcAft>
                <a:spcPts val="200"/>
              </a:spcAft>
              <a:defRPr sz="1100" b="1">
                <a:solidFill>
                  <a:srgbClr val="B8860B"/>
                </a:solidFill>
              </a:defRPr>
            </a:pPr>
            <a:r>
              <a:t>DATA 4380 · DATA PROBLEMS</a:t>
            </a:r>
          </a:p>
          <a:p>
            <a:pPr>
              <a:defRPr sz="2200" b="1">
                <a:solidFill>
                  <a:srgbClr val="2C3E50"/>
                </a:solidFill>
              </a:defRPr>
            </a:pPr>
            <a:r>
              <a:t>Academic Citations &amp; Literature References</a:t>
            </a:r>
          </a:p>
        </p:txBody>
      </p:sp>
      <p:sp>
        <p:nvSpPr>
          <p:cNvPr id="4" name="Rounded Rectangle 3"/>
          <p:cNvSpPr/>
          <p:nvPr/>
        </p:nvSpPr>
        <p:spPr>
          <a:xfrm>
            <a:off x="731520" y="1645920"/>
            <a:ext cx="10698480" cy="4572000"/>
          </a:xfrm>
          <a:prstGeom prst="roundRect">
            <a:avLst/>
          </a:prstGeom>
          <a:solidFill>
            <a:srgbClr val="FFFFFF"/>
          </a:solidFill>
          <a:ln w="15240">
            <a:solidFill>
              <a:srgbClr val="EAEE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10149840" cy="4023360"/>
          </a:xfrm>
          <a:prstGeom prst="rect">
            <a:avLst/>
          </a:prstGeom>
          <a:noFill/>
        </p:spPr>
        <p:txBody>
          <a:bodyPr wrap="square">
            <a:spAutoFit/>
          </a:bodyPr>
          <a:lstStyle/>
          <a:p>
            <a:pPr>
              <a:spcAft>
                <a:spcPts val="1400"/>
              </a:spcAft>
              <a:defRPr sz="1200" b="1">
                <a:solidFill>
                  <a:srgbClr val="B8860B"/>
                </a:solidFill>
              </a:defRPr>
            </a:pPr>
            <a:r>
              <a:t>PRIMARY LITERATURE REFERENCES</a:t>
            </a:r>
          </a:p>
          <a:p>
            <a:pPr>
              <a:spcAft>
                <a:spcPts val="1000"/>
              </a:spcAft>
              <a:defRPr sz="1100">
                <a:solidFill>
                  <a:srgbClr val="2C3E50"/>
                </a:solidFill>
              </a:defRPr>
            </a:pPr>
            <a:r>
              <a:t>• Khan, K. U. D., Gulzar, S., &amp; Yahya, F. (2013). Crucial factors affecting stress: A study among undergraduates in Pakistan. International Journal of Asian Social Science, 3(2), 428–442.</a:t>
            </a:r>
          </a:p>
          <a:p>
            <a:pPr>
              <a:spcAft>
                <a:spcPts val="1000"/>
              </a:spcAft>
              <a:defRPr sz="1100">
                <a:solidFill>
                  <a:srgbClr val="2C3E50"/>
                </a:solidFill>
              </a:defRPr>
            </a:pPr>
            <a:r>
              <a:t>• Nasir, P. (2025). Depression, anxiety, and stress among university students in Pakistan. International Journal of Social Sciences, Humanities and Communications, 1(1), 13–26.</a:t>
            </a:r>
          </a:p>
          <a:p>
            <a:pPr>
              <a:spcAft>
                <a:spcPts val="1000"/>
              </a:spcAft>
              <a:defRPr sz="1100">
                <a:solidFill>
                  <a:srgbClr val="2C3E50"/>
                </a:solidFill>
              </a:defRPr>
            </a:pPr>
            <a:r>
              <a:t>• Saeed, M., Ullah, Z., &amp; Ahmad, I. (2020). A qualitative exploratory study of the factors causing academic stress in undergraduate students in Pakistan. Liberal Arts and Social Sciences International Journal, 4(1), 203–223.</a:t>
            </a:r>
          </a:p>
          <a:p>
            <a:pPr>
              <a:spcAft>
                <a:spcPts val="1000"/>
              </a:spcAft>
              <a:defRPr sz="1100">
                <a:solidFill>
                  <a:srgbClr val="2C3E50"/>
                </a:solidFill>
              </a:defRPr>
            </a:pPr>
            <a:r>
              <a:t>• MacQueen, J. (1967). Some methods for classification and analysis of multivariate observations. Proceedings of the Fifth Berkeley Symposium on Mathematical Statistics and Probability, 1(14), 281–297.</a:t>
            </a:r>
          </a:p>
          <a:p>
            <a:pPr>
              <a:spcAft>
                <a:spcPts val="1000"/>
              </a:spcAft>
              <a:defRPr sz="1100">
                <a:solidFill>
                  <a:srgbClr val="2C3E50"/>
                </a:solidFill>
              </a:defRPr>
            </a:pPr>
            <a:r>
              <a:t>• Rousseeuw, P. J. (1987). Silhouettes: A graphical aid to the interpretation and validation of cluster analysis. Journal of Computational and Applied Mathematics, 20, 53–65.</a:t>
            </a:r>
          </a:p>
          <a:p>
            <a:pPr>
              <a:defRPr sz="1050">
                <a:solidFill>
                  <a:srgbClr val="2C3E50"/>
                </a:solidFill>
              </a:defRPr>
            </a:pPr>
            <a:r>
              <a:t>• Google DeepMind. (2026). Gemini: Advanced AI Pair Programming and Data Analytics Assistant. Google.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